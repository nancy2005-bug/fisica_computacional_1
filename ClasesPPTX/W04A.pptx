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8" r:id="rId4"/>
    <p:sldId id="269" r:id="rId5"/>
    <p:sldId id="270" r:id="rId6"/>
    <p:sldId id="271" r:id="rId7"/>
    <p:sldId id="272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60" d="100"/>
          <a:sy n="60" d="100"/>
        </p:scale>
        <p:origin x="39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hyperlink" Target="https://duckdb.org/docs/stable/dev/profiling" TargetMode="External"/><Relationship Id="rId1" Type="http://schemas.openxmlformats.org/officeDocument/2006/relationships/hyperlink" Target="https://duckdb.org/docs/stable/dev/profiling.html?utm_source=chatgpt.com" TargetMode="External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hyperlink" Target="https://duckdb.org/docs/stable/dev/profiling.html?utm_source=chatgpt.com" TargetMode="External"/><Relationship Id="rId1" Type="http://schemas.openxmlformats.org/officeDocument/2006/relationships/hyperlink" Target="https://duckdb.org/docs/stable/dev/profiling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161F07-AA96-481E-A1FE-B03009C48692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E2CE57DB-D9AD-4C67-8228-DFC4853B0908}">
      <dgm:prSet/>
      <dgm:spPr/>
      <dgm:t>
        <a:bodyPr/>
        <a:lstStyle/>
        <a:p>
          <a:r>
            <a:rPr lang="es-CO"/>
            <a:t>2 líneas:</a:t>
          </a:r>
          <a:endParaRPr lang="en-US"/>
        </a:p>
      </dgm:t>
    </dgm:pt>
    <dgm:pt modelId="{BC9BE937-6A9E-4A2F-959E-193697E00ED3}" type="parTrans" cxnId="{A50C65E1-CFAB-4711-A350-B66604DED570}">
      <dgm:prSet/>
      <dgm:spPr/>
      <dgm:t>
        <a:bodyPr/>
        <a:lstStyle/>
        <a:p>
          <a:endParaRPr lang="en-US"/>
        </a:p>
      </dgm:t>
    </dgm:pt>
    <dgm:pt modelId="{C21A7EB3-264A-4E29-A357-1EA525238827}" type="sibTrans" cxnId="{A50C65E1-CFAB-4711-A350-B66604DED570}">
      <dgm:prSet/>
      <dgm:spPr/>
      <dgm:t>
        <a:bodyPr/>
        <a:lstStyle/>
        <a:p>
          <a:endParaRPr lang="en-US"/>
        </a:p>
      </dgm:t>
    </dgm:pt>
    <dgm:pt modelId="{45BC7773-16DE-49C0-9DB0-199B57A3C963}">
      <dgm:prSet/>
      <dgm:spPr/>
      <dgm:t>
        <a:bodyPr/>
        <a:lstStyle/>
        <a:p>
          <a:r>
            <a:rPr lang="es-CO" dirty="0"/>
            <a:t>PRAGMA </a:t>
          </a:r>
          <a:r>
            <a:rPr lang="es-CO" dirty="0" err="1"/>
            <a:t>enable_profiling</a:t>
          </a:r>
          <a:r>
            <a:rPr lang="es-CO" dirty="0"/>
            <a:t>='</a:t>
          </a:r>
          <a:r>
            <a:rPr lang="es-CO" dirty="0" err="1"/>
            <a:t>query_tree</a:t>
          </a:r>
          <a:r>
            <a:rPr lang="es-CO" dirty="0"/>
            <a:t>'</a:t>
          </a:r>
          <a:endParaRPr lang="en-US" dirty="0"/>
        </a:p>
      </dgm:t>
    </dgm:pt>
    <dgm:pt modelId="{A3A92386-1C55-47FD-B699-41FA0EC54612}" type="parTrans" cxnId="{49CEF49C-6EF5-4E65-A1F1-9C493FFAC701}">
      <dgm:prSet/>
      <dgm:spPr/>
      <dgm:t>
        <a:bodyPr/>
        <a:lstStyle/>
        <a:p>
          <a:endParaRPr lang="en-US"/>
        </a:p>
      </dgm:t>
    </dgm:pt>
    <dgm:pt modelId="{BF3A94D4-BFCC-47E5-9EE0-44D22531EB01}" type="sibTrans" cxnId="{49CEF49C-6EF5-4E65-A1F1-9C493FFAC701}">
      <dgm:prSet/>
      <dgm:spPr/>
      <dgm:t>
        <a:bodyPr/>
        <a:lstStyle/>
        <a:p>
          <a:endParaRPr lang="en-US"/>
        </a:p>
      </dgm:t>
    </dgm:pt>
    <dgm:pt modelId="{87F757B2-7E73-4DE3-B069-06D2DF38FA5D}">
      <dgm:prSet/>
      <dgm:spPr/>
      <dgm:t>
        <a:bodyPr/>
        <a:lstStyle/>
        <a:p>
          <a:r>
            <a:rPr lang="es-CO" dirty="0"/>
            <a:t>PRAGMA </a:t>
          </a:r>
          <a:r>
            <a:rPr lang="es-CO" dirty="0" err="1"/>
            <a:t>profiling_coverage</a:t>
          </a:r>
          <a:r>
            <a:rPr lang="es-CO" dirty="0"/>
            <a:t>='SELECT'</a:t>
          </a:r>
          <a:endParaRPr lang="en-US" dirty="0"/>
        </a:p>
      </dgm:t>
    </dgm:pt>
    <dgm:pt modelId="{0AE1BB5A-558E-4805-93BF-8E5AA74ECCE9}" type="parTrans" cxnId="{5DAFDBA5-E257-4237-9A3E-488341BEBA13}">
      <dgm:prSet/>
      <dgm:spPr/>
      <dgm:t>
        <a:bodyPr/>
        <a:lstStyle/>
        <a:p>
          <a:endParaRPr lang="en-US"/>
        </a:p>
      </dgm:t>
    </dgm:pt>
    <dgm:pt modelId="{D5A7B3C4-C2C2-43FA-AC06-A1A14EE925C9}" type="sibTrans" cxnId="{5DAFDBA5-E257-4237-9A3E-488341BEBA13}">
      <dgm:prSet/>
      <dgm:spPr/>
      <dgm:t>
        <a:bodyPr/>
        <a:lstStyle/>
        <a:p>
          <a:endParaRPr lang="en-US"/>
        </a:p>
      </dgm:t>
    </dgm:pt>
    <dgm:pt modelId="{56452BA0-067A-44F6-9B8E-243D84E2AAB7}">
      <dgm:prSet/>
      <dgm:spPr/>
      <dgm:t>
        <a:bodyPr/>
        <a:lstStyle/>
        <a:p>
          <a:r>
            <a:rPr lang="es-CO"/>
            <a:t>Qué te da:</a:t>
          </a:r>
          <a:endParaRPr lang="en-US"/>
        </a:p>
      </dgm:t>
    </dgm:pt>
    <dgm:pt modelId="{A9C11D2A-5966-44BB-9ED8-E60E66197753}" type="parTrans" cxnId="{3ACCF3BD-4E22-4D02-BB88-7037DE07F511}">
      <dgm:prSet/>
      <dgm:spPr/>
      <dgm:t>
        <a:bodyPr/>
        <a:lstStyle/>
        <a:p>
          <a:endParaRPr lang="en-US"/>
        </a:p>
      </dgm:t>
    </dgm:pt>
    <dgm:pt modelId="{80B87B42-2C63-45E8-8479-C0B6E2EB6450}" type="sibTrans" cxnId="{3ACCF3BD-4E22-4D02-BB88-7037DE07F511}">
      <dgm:prSet/>
      <dgm:spPr/>
      <dgm:t>
        <a:bodyPr/>
        <a:lstStyle/>
        <a:p>
          <a:endParaRPr lang="en-US"/>
        </a:p>
      </dgm:t>
    </dgm:pt>
    <dgm:pt modelId="{23AB385F-9F1D-4718-A276-541216E3F8AC}">
      <dgm:prSet/>
      <dgm:spPr/>
      <dgm:t>
        <a:bodyPr/>
        <a:lstStyle/>
        <a:p>
          <a:r>
            <a:rPr lang="es-CO"/>
            <a:t>breakdown por operador y métricas adicionales </a:t>
          </a:r>
          <a:r>
            <a:rPr lang="es-CO">
              <a:hlinkClick xmlns:r="http://schemas.openxmlformats.org/officeDocument/2006/relationships" r:id="rId1"/>
            </a:rPr>
            <a:t>DuckDB</a:t>
          </a:r>
          <a:endParaRPr lang="en-US"/>
        </a:p>
      </dgm:t>
    </dgm:pt>
    <dgm:pt modelId="{4C83FE8C-E9B4-49CB-89C4-D034AF49C5F2}" type="parTrans" cxnId="{8CB3D418-3AD4-4A72-BCB2-DABBA0FD7531}">
      <dgm:prSet/>
      <dgm:spPr/>
      <dgm:t>
        <a:bodyPr/>
        <a:lstStyle/>
        <a:p>
          <a:endParaRPr lang="en-US"/>
        </a:p>
      </dgm:t>
    </dgm:pt>
    <dgm:pt modelId="{AC3FC3DB-5E81-4DB6-B4DD-DEA8BF31164A}" type="sibTrans" cxnId="{8CB3D418-3AD4-4A72-BCB2-DABBA0FD7531}">
      <dgm:prSet/>
      <dgm:spPr/>
      <dgm:t>
        <a:bodyPr/>
        <a:lstStyle/>
        <a:p>
          <a:endParaRPr lang="en-US"/>
        </a:p>
      </dgm:t>
    </dgm:pt>
    <dgm:pt modelId="{4BB72B8A-D546-48C5-9625-6CE12B1D8704}">
      <dgm:prSet/>
      <dgm:spPr/>
      <dgm:t>
        <a:bodyPr/>
        <a:lstStyle/>
        <a:p>
          <a:r>
            <a:rPr lang="es-CO"/>
            <a:t>Guarda JSON</a:t>
          </a:r>
          <a:endParaRPr lang="en-US"/>
        </a:p>
      </dgm:t>
    </dgm:pt>
    <dgm:pt modelId="{32682A38-910C-471B-BEF4-6DA5649B024C}" type="parTrans" cxnId="{7D0FD6C6-5F3E-4FFB-ABFF-9AB002D4B360}">
      <dgm:prSet/>
      <dgm:spPr/>
      <dgm:t>
        <a:bodyPr/>
        <a:lstStyle/>
        <a:p>
          <a:endParaRPr lang="en-US"/>
        </a:p>
      </dgm:t>
    </dgm:pt>
    <dgm:pt modelId="{F5F62279-D112-4A7E-B031-BADC3A0DB1F1}" type="sibTrans" cxnId="{7D0FD6C6-5F3E-4FFB-ABFF-9AB002D4B360}">
      <dgm:prSet/>
      <dgm:spPr/>
      <dgm:t>
        <a:bodyPr/>
        <a:lstStyle/>
        <a:p>
          <a:endParaRPr lang="en-US"/>
        </a:p>
      </dgm:t>
    </dgm:pt>
    <dgm:pt modelId="{ECF2ECCE-FB0F-42BE-BFF3-700B4618AAB8}">
      <dgm:prSet/>
      <dgm:spPr/>
      <dgm:t>
        <a:bodyPr/>
        <a:lstStyle/>
        <a:p>
          <a:r>
            <a:rPr lang="es-CO" dirty="0">
              <a:hlinkClick xmlns:r="http://schemas.openxmlformats.org/officeDocument/2006/relationships" r:id="rId2"/>
            </a:rPr>
            <a:t>https://duckdb.org/docs/stable/dev/profiling</a:t>
          </a:r>
          <a:endParaRPr lang="en-US" dirty="0"/>
        </a:p>
      </dgm:t>
    </dgm:pt>
    <dgm:pt modelId="{5C5F6706-5292-4CAF-96E5-409FCE25514C}" type="parTrans" cxnId="{1BF88F8D-66A5-4DFE-B0CE-CDDF2072CFCB}">
      <dgm:prSet/>
      <dgm:spPr/>
      <dgm:t>
        <a:bodyPr/>
        <a:lstStyle/>
        <a:p>
          <a:endParaRPr lang="es-CO"/>
        </a:p>
      </dgm:t>
    </dgm:pt>
    <dgm:pt modelId="{138EFFA5-BE84-4A64-ADA3-3C40A750ECAB}" type="sibTrans" cxnId="{1BF88F8D-66A5-4DFE-B0CE-CDDF2072CFCB}">
      <dgm:prSet/>
      <dgm:spPr/>
      <dgm:t>
        <a:bodyPr/>
        <a:lstStyle/>
        <a:p>
          <a:endParaRPr lang="es-CO"/>
        </a:p>
      </dgm:t>
    </dgm:pt>
    <dgm:pt modelId="{C957E97D-643D-4646-90B1-E07C1227C2AB}" type="pres">
      <dgm:prSet presAssocID="{5A161F07-AA96-481E-A1FE-B03009C48692}" presName="Name0" presStyleCnt="0">
        <dgm:presLayoutVars>
          <dgm:dir/>
          <dgm:animLvl val="lvl"/>
          <dgm:resizeHandles val="exact"/>
        </dgm:presLayoutVars>
      </dgm:prSet>
      <dgm:spPr/>
    </dgm:pt>
    <dgm:pt modelId="{861B2D73-F2ED-4565-A348-C1A426B56261}" type="pres">
      <dgm:prSet presAssocID="{E2CE57DB-D9AD-4C67-8228-DFC4853B0908}" presName="linNode" presStyleCnt="0"/>
      <dgm:spPr/>
    </dgm:pt>
    <dgm:pt modelId="{C9ABED51-68E8-41CD-AC55-70466BE92FAC}" type="pres">
      <dgm:prSet presAssocID="{E2CE57DB-D9AD-4C67-8228-DFC4853B0908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D93CFF60-04C4-4D9E-A126-B4B383D39E7D}" type="pres">
      <dgm:prSet presAssocID="{E2CE57DB-D9AD-4C67-8228-DFC4853B0908}" presName="descendantText" presStyleLbl="alignAccFollowNode1" presStyleIdx="0" presStyleCnt="2">
        <dgm:presLayoutVars>
          <dgm:bulletEnabled val="1"/>
        </dgm:presLayoutVars>
      </dgm:prSet>
      <dgm:spPr/>
    </dgm:pt>
    <dgm:pt modelId="{40CB108B-239A-404A-9E28-F9FAF4BC8784}" type="pres">
      <dgm:prSet presAssocID="{C21A7EB3-264A-4E29-A357-1EA525238827}" presName="sp" presStyleCnt="0"/>
      <dgm:spPr/>
    </dgm:pt>
    <dgm:pt modelId="{A5C9ACE8-B98E-4674-B0AD-614D1A085252}" type="pres">
      <dgm:prSet presAssocID="{56452BA0-067A-44F6-9B8E-243D84E2AAB7}" presName="linNode" presStyleCnt="0"/>
      <dgm:spPr/>
    </dgm:pt>
    <dgm:pt modelId="{9EC0D793-3855-41E3-9CDE-D0D562CD068E}" type="pres">
      <dgm:prSet presAssocID="{56452BA0-067A-44F6-9B8E-243D84E2AAB7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BF8870B5-CB1C-4E4C-96AC-88311427578A}" type="pres">
      <dgm:prSet presAssocID="{56452BA0-067A-44F6-9B8E-243D84E2AAB7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CB46F000-CDD0-4809-A579-54F3D99B243F}" type="presOf" srcId="{E2CE57DB-D9AD-4C67-8228-DFC4853B0908}" destId="{C9ABED51-68E8-41CD-AC55-70466BE92FAC}" srcOrd="0" destOrd="0" presId="urn:microsoft.com/office/officeart/2005/8/layout/vList5"/>
    <dgm:cxn modelId="{8CB3D418-3AD4-4A72-BCB2-DABBA0FD7531}" srcId="{56452BA0-067A-44F6-9B8E-243D84E2AAB7}" destId="{23AB385F-9F1D-4718-A276-541216E3F8AC}" srcOrd="0" destOrd="0" parTransId="{4C83FE8C-E9B4-49CB-89C4-D034AF49C5F2}" sibTransId="{AC3FC3DB-5E81-4DB6-B4DD-DEA8BF31164A}"/>
    <dgm:cxn modelId="{03B1602F-CB45-4E26-923F-1231AA2FCF4C}" type="presOf" srcId="{4BB72B8A-D546-48C5-9625-6CE12B1D8704}" destId="{BF8870B5-CB1C-4E4C-96AC-88311427578A}" srcOrd="0" destOrd="1" presId="urn:microsoft.com/office/officeart/2005/8/layout/vList5"/>
    <dgm:cxn modelId="{E557B463-4396-4682-9F86-5682EB7D6E14}" type="presOf" srcId="{ECF2ECCE-FB0F-42BE-BFF3-700B4618AAB8}" destId="{D93CFF60-04C4-4D9E-A126-B4B383D39E7D}" srcOrd="0" destOrd="2" presId="urn:microsoft.com/office/officeart/2005/8/layout/vList5"/>
    <dgm:cxn modelId="{1BF88F8D-66A5-4DFE-B0CE-CDDF2072CFCB}" srcId="{E2CE57DB-D9AD-4C67-8228-DFC4853B0908}" destId="{ECF2ECCE-FB0F-42BE-BFF3-700B4618AAB8}" srcOrd="2" destOrd="0" parTransId="{5C5F6706-5292-4CAF-96E5-409FCE25514C}" sibTransId="{138EFFA5-BE84-4A64-ADA3-3C40A750ECAB}"/>
    <dgm:cxn modelId="{0C041A95-2BB3-48DA-9FB1-6B2804E1F451}" type="presOf" srcId="{56452BA0-067A-44F6-9B8E-243D84E2AAB7}" destId="{9EC0D793-3855-41E3-9CDE-D0D562CD068E}" srcOrd="0" destOrd="0" presId="urn:microsoft.com/office/officeart/2005/8/layout/vList5"/>
    <dgm:cxn modelId="{49CEF49C-6EF5-4E65-A1F1-9C493FFAC701}" srcId="{E2CE57DB-D9AD-4C67-8228-DFC4853B0908}" destId="{45BC7773-16DE-49C0-9DB0-199B57A3C963}" srcOrd="0" destOrd="0" parTransId="{A3A92386-1C55-47FD-B699-41FA0EC54612}" sibTransId="{BF3A94D4-BFCC-47E5-9EE0-44D22531EB01}"/>
    <dgm:cxn modelId="{5DAFDBA5-E257-4237-9A3E-488341BEBA13}" srcId="{E2CE57DB-D9AD-4C67-8228-DFC4853B0908}" destId="{87F757B2-7E73-4DE3-B069-06D2DF38FA5D}" srcOrd="1" destOrd="0" parTransId="{0AE1BB5A-558E-4805-93BF-8E5AA74ECCE9}" sibTransId="{D5A7B3C4-C2C2-43FA-AC06-A1A14EE925C9}"/>
    <dgm:cxn modelId="{DB134FBC-CC70-441D-84B1-9CBE9090B953}" type="presOf" srcId="{23AB385F-9F1D-4718-A276-541216E3F8AC}" destId="{BF8870B5-CB1C-4E4C-96AC-88311427578A}" srcOrd="0" destOrd="0" presId="urn:microsoft.com/office/officeart/2005/8/layout/vList5"/>
    <dgm:cxn modelId="{3ACCF3BD-4E22-4D02-BB88-7037DE07F511}" srcId="{5A161F07-AA96-481E-A1FE-B03009C48692}" destId="{56452BA0-067A-44F6-9B8E-243D84E2AAB7}" srcOrd="1" destOrd="0" parTransId="{A9C11D2A-5966-44BB-9ED8-E60E66197753}" sibTransId="{80B87B42-2C63-45E8-8479-C0B6E2EB6450}"/>
    <dgm:cxn modelId="{7D0FD6C6-5F3E-4FFB-ABFF-9AB002D4B360}" srcId="{56452BA0-067A-44F6-9B8E-243D84E2AAB7}" destId="{4BB72B8A-D546-48C5-9625-6CE12B1D8704}" srcOrd="1" destOrd="0" parTransId="{32682A38-910C-471B-BEF4-6DA5649B024C}" sibTransId="{F5F62279-D112-4A7E-B031-BADC3A0DB1F1}"/>
    <dgm:cxn modelId="{F00685CB-F165-4B77-8C9C-B89292E40F0A}" type="presOf" srcId="{45BC7773-16DE-49C0-9DB0-199B57A3C963}" destId="{D93CFF60-04C4-4D9E-A126-B4B383D39E7D}" srcOrd="0" destOrd="0" presId="urn:microsoft.com/office/officeart/2005/8/layout/vList5"/>
    <dgm:cxn modelId="{9447E3D8-5CB8-4184-8E4A-1D4E2ED8D212}" type="presOf" srcId="{5A161F07-AA96-481E-A1FE-B03009C48692}" destId="{C957E97D-643D-4646-90B1-E07C1227C2AB}" srcOrd="0" destOrd="0" presId="urn:microsoft.com/office/officeart/2005/8/layout/vList5"/>
    <dgm:cxn modelId="{A50C65E1-CFAB-4711-A350-B66604DED570}" srcId="{5A161F07-AA96-481E-A1FE-B03009C48692}" destId="{E2CE57DB-D9AD-4C67-8228-DFC4853B0908}" srcOrd="0" destOrd="0" parTransId="{BC9BE937-6A9E-4A2F-959E-193697E00ED3}" sibTransId="{C21A7EB3-264A-4E29-A357-1EA525238827}"/>
    <dgm:cxn modelId="{7EDA60F4-2830-4041-A9CD-1B38E6B5C983}" type="presOf" srcId="{87F757B2-7E73-4DE3-B069-06D2DF38FA5D}" destId="{D93CFF60-04C4-4D9E-A126-B4B383D39E7D}" srcOrd="0" destOrd="1" presId="urn:microsoft.com/office/officeart/2005/8/layout/vList5"/>
    <dgm:cxn modelId="{51DBF01A-B4D1-4192-979B-4B71EABEF32F}" type="presParOf" srcId="{C957E97D-643D-4646-90B1-E07C1227C2AB}" destId="{861B2D73-F2ED-4565-A348-C1A426B56261}" srcOrd="0" destOrd="0" presId="urn:microsoft.com/office/officeart/2005/8/layout/vList5"/>
    <dgm:cxn modelId="{425E80DA-E8D7-43EB-801C-2C9AD20B93FF}" type="presParOf" srcId="{861B2D73-F2ED-4565-A348-C1A426B56261}" destId="{C9ABED51-68E8-41CD-AC55-70466BE92FAC}" srcOrd="0" destOrd="0" presId="urn:microsoft.com/office/officeart/2005/8/layout/vList5"/>
    <dgm:cxn modelId="{33249D05-F1A5-4A77-AAA5-25538B48BEC4}" type="presParOf" srcId="{861B2D73-F2ED-4565-A348-C1A426B56261}" destId="{D93CFF60-04C4-4D9E-A126-B4B383D39E7D}" srcOrd="1" destOrd="0" presId="urn:microsoft.com/office/officeart/2005/8/layout/vList5"/>
    <dgm:cxn modelId="{322B7439-7E75-4409-95EA-2315ADFCC953}" type="presParOf" srcId="{C957E97D-643D-4646-90B1-E07C1227C2AB}" destId="{40CB108B-239A-404A-9E28-F9FAF4BC8784}" srcOrd="1" destOrd="0" presId="urn:microsoft.com/office/officeart/2005/8/layout/vList5"/>
    <dgm:cxn modelId="{C4C11ACB-6A61-4FF4-ABE5-056B6AD1DA82}" type="presParOf" srcId="{C957E97D-643D-4646-90B1-E07C1227C2AB}" destId="{A5C9ACE8-B98E-4674-B0AD-614D1A085252}" srcOrd="2" destOrd="0" presId="urn:microsoft.com/office/officeart/2005/8/layout/vList5"/>
    <dgm:cxn modelId="{3889ADB9-6447-488C-BFF0-443516AF2E97}" type="presParOf" srcId="{A5C9ACE8-B98E-4674-B0AD-614D1A085252}" destId="{9EC0D793-3855-41E3-9CDE-D0D562CD068E}" srcOrd="0" destOrd="0" presId="urn:microsoft.com/office/officeart/2005/8/layout/vList5"/>
    <dgm:cxn modelId="{18BE4EC2-5142-4940-9360-47748BFEB279}" type="presParOf" srcId="{A5C9ACE8-B98E-4674-B0AD-614D1A085252}" destId="{BF8870B5-CB1C-4E4C-96AC-88311427578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3CFF60-04C4-4D9E-A126-B4B383D39E7D}">
      <dsp:nvSpPr>
        <dsp:cNvPr id="0" name=""/>
        <dsp:cNvSpPr/>
      </dsp:nvSpPr>
      <dsp:spPr>
        <a:xfrm rot="5400000">
          <a:off x="6301587" y="-2303662"/>
          <a:ext cx="1698041" cy="6729984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500" kern="1200" dirty="0"/>
            <a:t>PRAGMA </a:t>
          </a:r>
          <a:r>
            <a:rPr lang="es-CO" sz="2500" kern="1200" dirty="0" err="1"/>
            <a:t>enable_profiling</a:t>
          </a:r>
          <a:r>
            <a:rPr lang="es-CO" sz="2500" kern="1200" dirty="0"/>
            <a:t>='</a:t>
          </a:r>
          <a:r>
            <a:rPr lang="es-CO" sz="2500" kern="1200" dirty="0" err="1"/>
            <a:t>query_tree</a:t>
          </a:r>
          <a:r>
            <a:rPr lang="es-CO" sz="2500" kern="1200" dirty="0"/>
            <a:t>'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500" kern="1200" dirty="0"/>
            <a:t>PRAGMA </a:t>
          </a:r>
          <a:r>
            <a:rPr lang="es-CO" sz="2500" kern="1200" dirty="0" err="1"/>
            <a:t>profiling_coverage</a:t>
          </a:r>
          <a:r>
            <a:rPr lang="es-CO" sz="2500" kern="1200" dirty="0"/>
            <a:t>='SELECT'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500" kern="1200" dirty="0">
              <a:hlinkClick xmlns:r="http://schemas.openxmlformats.org/officeDocument/2006/relationships" r:id="rId1"/>
            </a:rPr>
            <a:t>https://duckdb.org/docs/stable/dev/profiling</a:t>
          </a:r>
          <a:endParaRPr lang="en-US" sz="2500" kern="1200" dirty="0"/>
        </a:p>
      </dsp:txBody>
      <dsp:txXfrm rot="-5400000">
        <a:off x="3785616" y="295201"/>
        <a:ext cx="6647092" cy="1532257"/>
      </dsp:txXfrm>
    </dsp:sp>
    <dsp:sp modelId="{C9ABED51-68E8-41CD-AC55-70466BE92FAC}">
      <dsp:nvSpPr>
        <dsp:cNvPr id="0" name=""/>
        <dsp:cNvSpPr/>
      </dsp:nvSpPr>
      <dsp:spPr>
        <a:xfrm>
          <a:off x="0" y="53"/>
          <a:ext cx="3785616" cy="2122552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114300" rIns="228600" bIns="1143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6000" kern="1200"/>
            <a:t>2 líneas:</a:t>
          </a:r>
          <a:endParaRPr lang="en-US" sz="6000" kern="1200"/>
        </a:p>
      </dsp:txBody>
      <dsp:txXfrm>
        <a:off x="103614" y="103667"/>
        <a:ext cx="3578388" cy="1915324"/>
      </dsp:txXfrm>
    </dsp:sp>
    <dsp:sp modelId="{BF8870B5-CB1C-4E4C-96AC-88311427578A}">
      <dsp:nvSpPr>
        <dsp:cNvPr id="0" name=""/>
        <dsp:cNvSpPr/>
      </dsp:nvSpPr>
      <dsp:spPr>
        <a:xfrm rot="5400000">
          <a:off x="6301587" y="-74983"/>
          <a:ext cx="1698041" cy="6729984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500" kern="1200"/>
            <a:t>breakdown por operador y métricas adicionales </a:t>
          </a:r>
          <a:r>
            <a:rPr lang="es-CO" sz="2500" kern="1200">
              <a:hlinkClick xmlns:r="http://schemas.openxmlformats.org/officeDocument/2006/relationships" r:id="rId2"/>
            </a:rPr>
            <a:t>DuckDB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500" kern="1200"/>
            <a:t>Guarda JSON</a:t>
          </a:r>
          <a:endParaRPr lang="en-US" sz="2500" kern="1200"/>
        </a:p>
      </dsp:txBody>
      <dsp:txXfrm rot="-5400000">
        <a:off x="3785616" y="2523880"/>
        <a:ext cx="6647092" cy="1532257"/>
      </dsp:txXfrm>
    </dsp:sp>
    <dsp:sp modelId="{9EC0D793-3855-41E3-9CDE-D0D562CD068E}">
      <dsp:nvSpPr>
        <dsp:cNvPr id="0" name=""/>
        <dsp:cNvSpPr/>
      </dsp:nvSpPr>
      <dsp:spPr>
        <a:xfrm>
          <a:off x="0" y="2228732"/>
          <a:ext cx="3785616" cy="2122552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114300" rIns="228600" bIns="1143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6000" kern="1200"/>
            <a:t>Qué te da:</a:t>
          </a:r>
          <a:endParaRPr lang="en-US" sz="6000" kern="1200"/>
        </a:p>
      </dsp:txBody>
      <dsp:txXfrm>
        <a:off x="103614" y="2332346"/>
        <a:ext cx="3578388" cy="19153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CD17EC-0F17-4FDC-92A2-0F3A6034A250}" type="datetimeFigureOut">
              <a:rPr lang="es-CO" smtClean="0"/>
              <a:t>10/01/2026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B6BE26-2947-430D-AB77-4C1DE59A064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18337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Hoy entrenamos intuición: cómo ‘piensa’ el motor. No optimizamos por magia: </a:t>
            </a:r>
            <a:r>
              <a:rPr lang="es-ES" b="1" dirty="0"/>
              <a:t>medimos y leemos el plan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6BE26-2947-430D-AB77-4C1DE59A064E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26137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Ya tenemos modelo (</a:t>
            </a:r>
            <a:r>
              <a:rPr lang="es-CO" dirty="0" err="1"/>
              <a:t>fact</a:t>
            </a:r>
            <a:r>
              <a:rPr lang="es-CO" dirty="0"/>
              <a:t>/</a:t>
            </a:r>
            <a:r>
              <a:rPr lang="es-CO" dirty="0" err="1"/>
              <a:t>dim</a:t>
            </a:r>
            <a:r>
              <a:rPr lang="es-CO" dirty="0"/>
              <a:t>). Ahora vemos el costo real de consultarlo.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6BE26-2947-430D-AB77-4C1DE59A064E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2026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“No necesitas saber todos los operadores. Solo aprender a ubicar dónde se dispara N.”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6BE26-2947-430D-AB77-4C1DE59A064E}" type="slidenum">
              <a:rPr lang="es-CO" smtClean="0"/>
              <a:t>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97142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“Hoy la competencia es: </a:t>
            </a:r>
            <a:r>
              <a:rPr lang="es-ES" i="1" dirty="0"/>
              <a:t>puedo mirar esto y decir ‘aquí está el costo’</a:t>
            </a:r>
            <a:r>
              <a:rPr lang="es-ES" dirty="0"/>
              <a:t>.”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6BE26-2947-430D-AB77-4C1DE59A064E}" type="slidenum">
              <a:rPr lang="es-CO" smtClean="0"/>
              <a:t>10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713581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Esta es una optimización </a:t>
            </a:r>
            <a:r>
              <a:rPr lang="es-CO" i="1" dirty="0"/>
              <a:t>barata</a:t>
            </a:r>
            <a:r>
              <a:rPr lang="es-CO" dirty="0"/>
              <a:t>: no cambia la lógica, solo evita leer basura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6BE26-2947-430D-AB77-4C1DE59A064E}" type="slidenum">
              <a:rPr lang="es-CO" smtClean="0"/>
              <a:t>12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535070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Esto es el test de sanidad que evita semanas de métricas falsas.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6BE26-2947-430D-AB77-4C1DE59A064E}" type="slidenum">
              <a:rPr lang="es-CO" smtClean="0"/>
              <a:t>13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592391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 ‘arreglamos performance’ con </a:t>
            </a:r>
            <a:r>
              <a:rPr lang="es-ES" dirty="0" err="1"/>
              <a:t>tips</a:t>
            </a:r>
            <a:r>
              <a:rPr lang="es-ES" dirty="0"/>
              <a:t> sueltos: primero ubicamos el cuello de botella.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6BE26-2947-430D-AB77-4C1DE59A064E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08326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/>
              <a:t>Esto es como un </a:t>
            </a:r>
            <a:r>
              <a:rPr lang="es-CO" dirty="0" err="1"/>
              <a:t>profiler</a:t>
            </a:r>
            <a:r>
              <a:rPr lang="es-CO" dirty="0"/>
              <a:t>: no lo usamos siempre, pero cuando hay dudas, aclara.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6BE26-2947-430D-AB77-4C1DE59A064E}" type="slidenum">
              <a:rPr lang="es-CO" smtClean="0"/>
              <a:t>15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1190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C1587E-7BBC-3D2F-8EE4-E6462CAAF1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A2C5FA-3248-3EAF-9448-ED864ACCD4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6F9BF5-438A-1A03-7B52-56807F924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5BCA-1F83-476E-8530-15724125734F}" type="datetimeFigureOut">
              <a:rPr lang="es-CO" smtClean="0"/>
              <a:t>10/01/2026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48BFCC-6603-DBBA-CB8A-42E017CEA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D5239B-817D-CA50-E801-EFAFC1E16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C0B0-5B13-450F-B9CF-5D32C34DA6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35445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5F3752-1780-8932-7373-242F2600E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DD4ED4-0343-A734-1624-5BF86C6CC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4C21FE-9F37-9B73-38E5-EC2E46DC0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5BCA-1F83-476E-8530-15724125734F}" type="datetimeFigureOut">
              <a:rPr lang="es-CO" smtClean="0"/>
              <a:t>10/01/2026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0CE12D-372D-436F-6931-9499F28FE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C5E27B-59FA-93B6-BB56-7DC25BF81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C0B0-5B13-450F-B9CF-5D32C34DA6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66250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8D1DBA-06DD-0115-B7DA-8A73AD4A0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C0CA776-2938-CCDE-2FA5-DB07AD096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81854C-BD5D-A9C6-005E-A14EB8391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5BCA-1F83-476E-8530-15724125734F}" type="datetimeFigureOut">
              <a:rPr lang="es-CO" smtClean="0"/>
              <a:t>10/01/2026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D94E68-F446-DA45-EEAF-80B5C46C2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981AE7-617E-B472-9969-194CBB829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C0B0-5B13-450F-B9CF-5D32C34DA6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05357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801FEA-968B-BA5C-B78C-6C36A3A2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116C1E-589F-0375-4308-1CD4D0AB35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1A91521-FA90-ECC4-1461-C3EA6D3311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85A39C-9CC6-C98A-2404-6E24F3F6A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5BCA-1F83-476E-8530-15724125734F}" type="datetimeFigureOut">
              <a:rPr lang="es-CO" smtClean="0"/>
              <a:t>10/01/2026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C25EAB-99F9-9D09-6B68-8558DBBFA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26C4F66-410A-8EBD-C161-6E4525311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C0B0-5B13-450F-B9CF-5D32C34DA6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9407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9D6961-02B7-52A3-E817-19EA9A8C5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74B7B4A-EE56-D9F3-CA12-C491D9643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497F547-654A-4D50-CE4A-DA7BD7308B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F0FD21C-82A7-83A9-F3FD-BEA781A606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550BBAA-6580-368F-B391-FDA6302E8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7EDAF54-BE67-CE0B-72C7-7B5FF5F80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5BCA-1F83-476E-8530-15724125734F}" type="datetimeFigureOut">
              <a:rPr lang="es-CO" smtClean="0"/>
              <a:t>10/01/2026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1ACB278-325C-A4A6-D13A-187F031B5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A5415E7-0AFF-F4A0-EF1C-F50547367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C0B0-5B13-450F-B9CF-5D32C34DA6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94247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98A721-BC33-A1E1-B745-75E9E4951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6DBF5B0-3A76-6612-4119-6277810C9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5BCA-1F83-476E-8530-15724125734F}" type="datetimeFigureOut">
              <a:rPr lang="es-CO" smtClean="0"/>
              <a:t>10/01/2026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3B9B463-FB41-234A-8D10-A7AAE4133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A0B34ED-31DF-1372-EAD0-A0FE6BEA3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C0B0-5B13-450F-B9CF-5D32C34DA6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0502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409D8BA-4BE4-B9F9-32DA-E3ACA683F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5BCA-1F83-476E-8530-15724125734F}" type="datetimeFigureOut">
              <a:rPr lang="es-CO" smtClean="0"/>
              <a:t>10/01/2026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66A9CA-4DB5-5559-7916-002944283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5804B71-E1CE-C3A3-9E0F-7A34FAB19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C0B0-5B13-450F-B9CF-5D32C34DA6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11771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89893F-54CB-F5BC-0869-F8068D9BB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B41BD4-79A0-9CC1-B078-8989A9B76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E4B888F-F3CA-E17C-D7DD-3C6D25AC4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E5D886-0F19-7CA1-93EB-2BA7A2CBB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5BCA-1F83-476E-8530-15724125734F}" type="datetimeFigureOut">
              <a:rPr lang="es-CO" smtClean="0"/>
              <a:t>10/01/2026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5A84902-FF12-99A3-20BF-8914DA6D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BED6D0-3C1B-D561-3D96-46ED62AD0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C0B0-5B13-450F-B9CF-5D32C34DA6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7805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17A548-5630-6D86-BA1D-3706E5E83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7F8E57E-5D14-AC8D-6CEA-1C53A4904E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B4E842D-393B-F8A5-769F-1AEE7D6FD8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B604F25-53E8-355E-5EAB-3016C41FB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5BCA-1F83-476E-8530-15724125734F}" type="datetimeFigureOut">
              <a:rPr lang="es-CO" smtClean="0"/>
              <a:t>10/01/2026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B3D60A0-2E27-63E8-548F-C7421DC97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855029F-EAA5-3A9E-F58D-74827449F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C0B0-5B13-450F-B9CF-5D32C34DA6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596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7FD49C-A4D3-789F-06B6-6A0AE6004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92691B7-38CB-5BAA-4055-357FF4276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6909AB-219D-2482-0A84-D5DF21CBD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5BCA-1F83-476E-8530-15724125734F}" type="datetimeFigureOut">
              <a:rPr lang="es-CO" smtClean="0"/>
              <a:t>10/01/2026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090909-F9C7-E63D-0953-8778E628C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69F8FB-B0E8-FF2E-5405-240BAF8AA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C0B0-5B13-450F-B9CF-5D32C34DA6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52367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C4528DD-02DA-3C1D-A722-114FFA8822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763E6C-0108-9949-64C6-49F0ED22B2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BA2DEC-BEB5-C1B0-ADDC-5CC1F0F56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5BCA-1F83-476E-8530-15724125734F}" type="datetimeFigureOut">
              <a:rPr lang="es-CO" smtClean="0"/>
              <a:t>10/01/2026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75EC51-77CD-D96F-5E77-43406E18D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B62D8A-A770-C34B-66D8-FDB3C64BA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C0B0-5B13-450F-B9CF-5D32C34DA6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8979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6A883BB-63D0-CC23-06E9-E1DE65DA1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37B159-9333-B8D7-9D34-B70501573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9355E4-2F3E-9BDA-1A67-C67B2BA45B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F15BCA-1F83-476E-8530-15724125734F}" type="datetimeFigureOut">
              <a:rPr lang="es-CO" smtClean="0"/>
              <a:t>10/01/2026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A63650-7727-0DD3-D86B-401E963C6D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243AFA-9939-59C0-DAB7-6E5DF005D0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11C0B0-5B13-450F-B9CF-5D32C34DA6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56237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6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5" descr="Performance Ilustraciones Stock, Vectores, Y Clipart – (1,214,932  Ilustraciones Stock)">
            <a:extLst>
              <a:ext uri="{FF2B5EF4-FFF2-40B4-BE49-F238E27FC236}">
                <a16:creationId xmlns:a16="http://schemas.microsoft.com/office/drawing/2014/main" id="{206194F8-2C33-B1BE-25BD-925228717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73178" y="0"/>
            <a:ext cx="9144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6D23F39-5B35-DA06-A071-CBFB983DB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5074" y="1122398"/>
            <a:ext cx="7202905" cy="2387600"/>
          </a:xfrm>
        </p:spPr>
        <p:txBody>
          <a:bodyPr>
            <a:normAutofit fontScale="90000"/>
          </a:bodyPr>
          <a:lstStyle/>
          <a:p>
            <a:r>
              <a:rPr lang="es-CO" dirty="0"/>
              <a:t>EXPLAIN + Cardinalidad + Performance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73D177-85EF-E871-1C52-7634770D36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Aprender a leer el plan antes de culpar al código</a:t>
            </a:r>
          </a:p>
          <a:p>
            <a:r>
              <a:rPr lang="es-CO" dirty="0"/>
              <a:t>Detectar SCAN grande</a:t>
            </a:r>
          </a:p>
          <a:p>
            <a:r>
              <a:rPr lang="es-CO" dirty="0"/>
              <a:t>Detectar JOIN que infla</a:t>
            </a:r>
          </a:p>
          <a:p>
            <a:r>
              <a:rPr lang="es-CO" dirty="0"/>
              <a:t>Detectar GROUP BY caro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B94CEEB-84CD-6A7D-A4CC-85EE296B2B5A}"/>
              </a:ext>
            </a:extLst>
          </p:cNvPr>
          <p:cNvGrpSpPr/>
          <p:nvPr/>
        </p:nvGrpSpPr>
        <p:grpSpPr>
          <a:xfrm>
            <a:off x="2245894" y="5735637"/>
            <a:ext cx="9127958" cy="584954"/>
            <a:chOff x="545431" y="5735458"/>
            <a:chExt cx="9127958" cy="584954"/>
          </a:xfrm>
        </p:grpSpPr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CCEFEE73-B8FA-3A2E-B040-5F9DBB5FF0FC}"/>
                </a:ext>
              </a:extLst>
            </p:cNvPr>
            <p:cNvSpPr txBox="1"/>
            <p:nvPr/>
          </p:nvSpPr>
          <p:spPr>
            <a:xfrm>
              <a:off x="545431" y="5735637"/>
              <a:ext cx="1267327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SCAN</a:t>
              </a:r>
              <a:endParaRPr lang="es-CO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D5090A77-B131-7EB2-84B2-F794CC1A1F3C}"/>
                </a:ext>
              </a:extLst>
            </p:cNvPr>
            <p:cNvSpPr txBox="1"/>
            <p:nvPr/>
          </p:nvSpPr>
          <p:spPr>
            <a:xfrm>
              <a:off x="2879557" y="5735637"/>
              <a:ext cx="143576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FILTER</a:t>
              </a:r>
              <a:endParaRPr lang="es-CO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76155557-2A04-6F32-703F-A3101E67BBB5}"/>
                </a:ext>
              </a:extLst>
            </p:cNvPr>
            <p:cNvSpPr txBox="1"/>
            <p:nvPr/>
          </p:nvSpPr>
          <p:spPr>
            <a:xfrm>
              <a:off x="5382125" y="5735636"/>
              <a:ext cx="105878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JOIN</a:t>
              </a:r>
              <a:endParaRPr lang="es-CO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1976806C-2AA7-6D52-5F38-96E9FDD03D46}"/>
                </a:ext>
              </a:extLst>
            </p:cNvPr>
            <p:cNvSpPr txBox="1"/>
            <p:nvPr/>
          </p:nvSpPr>
          <p:spPr>
            <a:xfrm>
              <a:off x="7507704" y="5735458"/>
              <a:ext cx="216568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GROUP BY</a:t>
              </a:r>
              <a:endParaRPr lang="es-CO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21" name="Flecha: a la derecha 20">
              <a:extLst>
                <a:ext uri="{FF2B5EF4-FFF2-40B4-BE49-F238E27FC236}">
                  <a16:creationId xmlns:a16="http://schemas.microsoft.com/office/drawing/2014/main" id="{24715822-FB10-E4A6-5D5D-F00DCDBBA968}"/>
                </a:ext>
              </a:extLst>
            </p:cNvPr>
            <p:cNvSpPr/>
            <p:nvPr/>
          </p:nvSpPr>
          <p:spPr>
            <a:xfrm>
              <a:off x="1812758" y="5919537"/>
              <a:ext cx="1066799" cy="240631"/>
            </a:xfrm>
            <a:prstGeom prst="rightArrow">
              <a:avLst/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2" name="Flecha: a la derecha 21">
              <a:extLst>
                <a:ext uri="{FF2B5EF4-FFF2-40B4-BE49-F238E27FC236}">
                  <a16:creationId xmlns:a16="http://schemas.microsoft.com/office/drawing/2014/main" id="{3BDFF542-3E8B-0138-74B9-723CEE4AD7B7}"/>
                </a:ext>
              </a:extLst>
            </p:cNvPr>
            <p:cNvSpPr/>
            <p:nvPr/>
          </p:nvSpPr>
          <p:spPr>
            <a:xfrm>
              <a:off x="4311316" y="5919537"/>
              <a:ext cx="1066799" cy="240631"/>
            </a:xfrm>
            <a:prstGeom prst="rightArrow">
              <a:avLst/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3" name="Flecha: a la derecha 22">
              <a:extLst>
                <a:ext uri="{FF2B5EF4-FFF2-40B4-BE49-F238E27FC236}">
                  <a16:creationId xmlns:a16="http://schemas.microsoft.com/office/drawing/2014/main" id="{45DA0B9B-6221-471A-8FEC-6345EFA58CEB}"/>
                </a:ext>
              </a:extLst>
            </p:cNvPr>
            <p:cNvSpPr/>
            <p:nvPr/>
          </p:nvSpPr>
          <p:spPr>
            <a:xfrm>
              <a:off x="6448924" y="5919537"/>
              <a:ext cx="1066799" cy="240631"/>
            </a:xfrm>
            <a:prstGeom prst="rightArrow">
              <a:avLst/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2596688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Slide Background Fill">
            <a:extLst>
              <a:ext uri="{FF2B5EF4-FFF2-40B4-BE49-F238E27FC236}">
                <a16:creationId xmlns:a16="http://schemas.microsoft.com/office/drawing/2014/main" id="{C3420C89-0B09-4632-A4AF-3971D08BF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Color Cover">
            <a:extLst>
              <a:ext uri="{FF2B5EF4-FFF2-40B4-BE49-F238E27FC236}">
                <a16:creationId xmlns:a16="http://schemas.microsoft.com/office/drawing/2014/main" id="{4E5CBA61-BF74-40B4-A3A8-366BBA626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C27E70C-5470-4262-B9CE-AE52C51CF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929"/>
            <a:ext cx="12188952" cy="3490956"/>
            <a:chOff x="651279" y="598259"/>
            <a:chExt cx="10889442" cy="5680742"/>
          </a:xfrm>
        </p:grpSpPr>
        <p:sp>
          <p:nvSpPr>
            <p:cNvPr id="20" name="Color">
              <a:extLst>
                <a:ext uri="{FF2B5EF4-FFF2-40B4-BE49-F238E27FC236}">
                  <a16:creationId xmlns:a16="http://schemas.microsoft.com/office/drawing/2014/main" id="{B5C7D35F-738C-47DF-AD6E-859806E46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Color">
              <a:extLst>
                <a:ext uri="{FF2B5EF4-FFF2-40B4-BE49-F238E27FC236}">
                  <a16:creationId xmlns:a16="http://schemas.microsoft.com/office/drawing/2014/main" id="{740F8C8B-E52F-46CF-89C7-51C6A037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14F331EF-A832-D209-4796-0B1116829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841249"/>
            <a:ext cx="5692953" cy="2587131"/>
          </a:xfrm>
        </p:spPr>
        <p:txBody>
          <a:bodyPr anchor="b">
            <a:normAutofit/>
          </a:bodyPr>
          <a:lstStyle/>
          <a:p>
            <a:r>
              <a:rPr lang="es-CO" sz="4800" b="1">
                <a:solidFill>
                  <a:schemeClr val="bg1"/>
                </a:solidFill>
              </a:rPr>
              <a:t>Dónde estamos en el curso</a:t>
            </a:r>
            <a:endParaRPr lang="es-CO" sz="4800">
              <a:solidFill>
                <a:schemeClr val="bg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B897BC-8AE9-BDFA-2832-044B77358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383" y="3566810"/>
            <a:ext cx="5692953" cy="2651110"/>
          </a:xfrm>
        </p:spPr>
        <p:txBody>
          <a:bodyPr anchor="ctr">
            <a:normAutofit/>
          </a:bodyPr>
          <a:lstStyle/>
          <a:p>
            <a:r>
              <a:rPr lang="es-CO" sz="1800">
                <a:solidFill>
                  <a:schemeClr val="tx2"/>
                </a:solidFill>
              </a:rPr>
              <a:t>Línea W02 → W03A → W03B → </a:t>
            </a:r>
            <a:r>
              <a:rPr lang="es-CO" sz="1800" b="1">
                <a:solidFill>
                  <a:schemeClr val="tx2"/>
                </a:solidFill>
              </a:rPr>
              <a:t>W04A</a:t>
            </a:r>
            <a:endParaRPr lang="es-CO" sz="1800">
              <a:solidFill>
                <a:schemeClr val="tx2"/>
              </a:solidFill>
            </a:endParaRPr>
          </a:p>
          <a:p>
            <a:pPr lvl="1"/>
            <a:r>
              <a:rPr lang="es-CO" sz="1800">
                <a:solidFill>
                  <a:schemeClr val="tx2"/>
                </a:solidFill>
              </a:rPr>
              <a:t>W02: cardinalidad y JOIN</a:t>
            </a:r>
          </a:p>
          <a:p>
            <a:pPr lvl="1"/>
            <a:r>
              <a:rPr lang="es-CO" sz="1800">
                <a:solidFill>
                  <a:schemeClr val="tx2"/>
                </a:solidFill>
              </a:rPr>
              <a:t>W03A: contrato + checks</a:t>
            </a:r>
          </a:p>
          <a:p>
            <a:pPr lvl="1"/>
            <a:r>
              <a:rPr lang="es-CO" sz="1800">
                <a:solidFill>
                  <a:schemeClr val="tx2"/>
                </a:solidFill>
              </a:rPr>
              <a:t>W03B: Silver/Gold</a:t>
            </a:r>
          </a:p>
          <a:p>
            <a:pPr lvl="1"/>
            <a:r>
              <a:rPr lang="es-CO" sz="1800" b="1">
                <a:solidFill>
                  <a:schemeClr val="tx2"/>
                </a:solidFill>
              </a:rPr>
              <a:t>W04A: performance + planes</a:t>
            </a:r>
            <a:endParaRPr lang="es-CO" sz="1800">
              <a:solidFill>
                <a:schemeClr val="tx2"/>
              </a:solidFill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D15A6677-942B-F0A2-88FD-E84BBF632F81}"/>
              </a:ext>
            </a:extLst>
          </p:cNvPr>
          <p:cNvGrpSpPr/>
          <p:nvPr/>
        </p:nvGrpSpPr>
        <p:grpSpPr>
          <a:xfrm>
            <a:off x="5483105" y="2759023"/>
            <a:ext cx="6451809" cy="2802333"/>
            <a:chOff x="2310063" y="-87171"/>
            <a:chExt cx="8598568" cy="3914695"/>
          </a:xfrm>
        </p:grpSpPr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E8A81E4B-1AC1-1214-9583-445F484BF16B}"/>
                </a:ext>
              </a:extLst>
            </p:cNvPr>
            <p:cNvGrpSpPr/>
            <p:nvPr/>
          </p:nvGrpSpPr>
          <p:grpSpPr>
            <a:xfrm>
              <a:off x="2310063" y="-87171"/>
              <a:ext cx="8598568" cy="3866536"/>
              <a:chOff x="5167341" y="1716903"/>
              <a:chExt cx="5981922" cy="2689904"/>
            </a:xfrm>
          </p:grpSpPr>
          <p:pic>
            <p:nvPicPr>
              <p:cNvPr id="4" name="Picture 2" descr="Diagrama&#10;&#10;El contenido generado por IA puede ser incorrecto.">
                <a:extLst>
                  <a:ext uri="{FF2B5EF4-FFF2-40B4-BE49-F238E27FC236}">
                    <a16:creationId xmlns:a16="http://schemas.microsoft.com/office/drawing/2014/main" id="{E28E764B-6ACC-CD03-D68F-5343239F446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5167341" y="2058903"/>
                <a:ext cx="5981922" cy="23479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529BBFD-0586-CBE6-10CB-1FEE0167D362}"/>
                  </a:ext>
                </a:extLst>
              </p:cNvPr>
              <p:cNvSpPr txBox="1"/>
              <p:nvPr/>
            </p:nvSpPr>
            <p:spPr>
              <a:xfrm>
                <a:off x="9034029" y="1716903"/>
                <a:ext cx="1005797" cy="4187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defTabSz="502920">
                  <a:spcAft>
                    <a:spcPts val="600"/>
                  </a:spcAft>
                </a:pPr>
                <a:r>
                  <a:rPr lang="es-CO" sz="2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⚡</a:t>
                </a:r>
                <a:endParaRPr lang="es-CO" sz="4000" dirty="0"/>
              </a:p>
            </p:txBody>
          </p:sp>
        </p:grp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83C8DFEA-6785-90A0-0555-AC033ABF7463}"/>
                </a:ext>
              </a:extLst>
            </p:cNvPr>
            <p:cNvSpPr txBox="1"/>
            <p:nvPr/>
          </p:nvSpPr>
          <p:spPr>
            <a:xfrm>
              <a:off x="7779540" y="3181193"/>
              <a:ext cx="155407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502920">
                <a:spcAft>
                  <a:spcPts val="600"/>
                </a:spcAft>
              </a:pPr>
              <a:r>
                <a:rPr lang="es-CO" sz="9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ya importa performance</a:t>
              </a:r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2965472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AE4D17-B263-CD44-9DED-E97019CE7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B1DD24-0E06-1D08-CC9A-B36945887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Picture 2" descr="Transactional vs. Analytical: A Deep Dive into OLTP and OLAP for Data  Professionals | by Henry | Data Engineer Things">
            <a:extLst>
              <a:ext uri="{FF2B5EF4-FFF2-40B4-BE49-F238E27FC236}">
                <a16:creationId xmlns:a16="http://schemas.microsoft.com/office/drawing/2014/main" id="{603F8489-B40C-309B-A000-19672FE2B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0"/>
            <a:ext cx="1218406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6946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717011-DA3C-2524-06F5-F45BAF54D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Hash</a:t>
            </a:r>
          </a:p>
        </p:txBody>
      </p:sp>
      <p:pic>
        <p:nvPicPr>
          <p:cNvPr id="5" name="Marcador de contenido 4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13681D08-4243-0A01-B665-3B6EFD4BDB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444481"/>
            <a:ext cx="6780700" cy="396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574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CF171A-4F44-E1A3-EB96-0AD221BA3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/>
              <a:t>SSTables + LSM-Trees</a:t>
            </a:r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AFC09605-B1FB-A9AB-274A-ECF3649B6807}"/>
              </a:ext>
            </a:extLst>
          </p:cNvPr>
          <p:cNvSpPr txBox="1">
            <a:spLocks/>
          </p:cNvSpPr>
          <p:nvPr/>
        </p:nvSpPr>
        <p:spPr>
          <a:xfrm>
            <a:off x="5541263" y="457200"/>
            <a:ext cx="6007608" cy="1929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/>
              <a:t>SSTables: </a:t>
            </a:r>
            <a:r>
              <a:rPr lang="en-US" sz="2200"/>
              <a:t>Archivos inmutables ordenados en disco</a:t>
            </a:r>
          </a:p>
          <a:p>
            <a:r>
              <a:rPr lang="en-US" sz="2200" b="1"/>
              <a:t>LSM-Trees: </a:t>
            </a:r>
            <a:r>
              <a:rPr lang="en-US" sz="2200"/>
              <a:t>Estructura jerárquica que organiza SSTables</a:t>
            </a:r>
            <a:endParaRPr lang="en-US" sz="2200" b="1"/>
          </a:p>
          <a:p>
            <a:endParaRPr lang="en-US" sz="2200"/>
          </a:p>
        </p:txBody>
      </p:sp>
      <p:pic>
        <p:nvPicPr>
          <p:cNvPr id="5" name="Marcador de contenido 4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5188B996-AD14-BF76-34BC-41CE6B3F10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2059" y="2569464"/>
            <a:ext cx="4856681" cy="3678936"/>
          </a:xfrm>
          <a:prstGeom prst="rect">
            <a:avLst/>
          </a:prstGeom>
        </p:spPr>
      </p:pic>
      <p:pic>
        <p:nvPicPr>
          <p:cNvPr id="7" name="Imagen 6" descr="Diagrama&#10;&#10;El contenido generado por IA puede ser incorrecto.">
            <a:extLst>
              <a:ext uri="{FF2B5EF4-FFF2-40B4-BE49-F238E27FC236}">
                <a16:creationId xmlns:a16="http://schemas.microsoft.com/office/drawing/2014/main" id="{55AE239E-2766-5987-8115-0E840E191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953047"/>
            <a:ext cx="5468112" cy="2911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915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F41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61B711-7420-D9E7-282F-FA4DAC806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B-Trees</a:t>
            </a:r>
          </a:p>
        </p:txBody>
      </p:sp>
      <p:pic>
        <p:nvPicPr>
          <p:cNvPr id="5" name="Marcador de contenido 4" descr="Diagrama&#10;&#10;El contenido generado por IA puede ser incorrecto.">
            <a:extLst>
              <a:ext uri="{FF2B5EF4-FFF2-40B4-BE49-F238E27FC236}">
                <a16:creationId xmlns:a16="http://schemas.microsoft.com/office/drawing/2014/main" id="{92AF9EAB-A0F6-B754-61C7-4256FC160C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324758"/>
            <a:ext cx="7188199" cy="4205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995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543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F517AEE-23E8-3DF7-BFF4-77ACC121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Columnaar</a:t>
            </a:r>
          </a:p>
        </p:txBody>
      </p:sp>
      <p:pic>
        <p:nvPicPr>
          <p:cNvPr id="5" name="Marcador de contenido 4" descr="Tabla&#10;&#10;El contenido generado por IA puede ser incorrecto.">
            <a:extLst>
              <a:ext uri="{FF2B5EF4-FFF2-40B4-BE49-F238E27FC236}">
                <a16:creationId xmlns:a16="http://schemas.microsoft.com/office/drawing/2014/main" id="{A9B18EA0-5AF6-21BA-155C-F76D70D1E7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11821" y="961812"/>
            <a:ext cx="6241756" cy="493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940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BBA7C4-D72E-E603-C2B3-A9F9767EF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anchor="t">
            <a:normAutofit/>
          </a:bodyPr>
          <a:lstStyle/>
          <a:p>
            <a:r>
              <a:rPr lang="es-ES" sz="3200"/>
              <a:t>OLTP vs OLAP (por qué duele el scan)</a:t>
            </a:r>
            <a:endParaRPr lang="es-CO" sz="32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C0EDEE-99F8-F239-A279-B945EF6F5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40" y="2551176"/>
            <a:ext cx="4544762" cy="3602935"/>
          </a:xfrm>
        </p:spPr>
        <p:txBody>
          <a:bodyPr>
            <a:normAutofit/>
          </a:bodyPr>
          <a:lstStyle/>
          <a:p>
            <a:r>
              <a:rPr lang="es-ES" sz="2000" dirty="0"/>
              <a:t>OLAP lee </a:t>
            </a:r>
            <a:r>
              <a:rPr lang="es-ES" sz="2000" b="1" dirty="0"/>
              <a:t>muchas filas</a:t>
            </a:r>
            <a:r>
              <a:rPr lang="es-ES" sz="2000" dirty="0"/>
              <a:t> (agregaciones)</a:t>
            </a:r>
          </a:p>
          <a:p>
            <a:r>
              <a:rPr lang="es-ES" sz="2000" dirty="0"/>
              <a:t>Cuello de botella: </a:t>
            </a:r>
            <a:r>
              <a:rPr lang="es-ES" sz="2000" b="1" dirty="0"/>
              <a:t>ancho de banda/lectura</a:t>
            </a:r>
            <a:r>
              <a:rPr lang="es-ES" sz="2000" dirty="0"/>
              <a:t>, no “una fila por llave”</a:t>
            </a:r>
          </a:p>
          <a:p>
            <a:r>
              <a:rPr lang="es-ES" sz="2000" dirty="0"/>
              <a:t>Por eso existen enfoques como </a:t>
            </a:r>
            <a:r>
              <a:rPr lang="es-ES" sz="2000" b="1" dirty="0" err="1"/>
              <a:t>column-oriented</a:t>
            </a:r>
            <a:r>
              <a:rPr lang="es-ES" sz="2000" b="1" dirty="0"/>
              <a:t> </a:t>
            </a:r>
            <a:r>
              <a:rPr lang="es-ES" sz="2000" b="1" dirty="0" err="1"/>
              <a:t>storage</a:t>
            </a:r>
            <a:endParaRPr lang="es-ES" sz="2000" b="1" dirty="0"/>
          </a:p>
          <a:p>
            <a:r>
              <a:rPr lang="es-ES" sz="2000" b="1" dirty="0" err="1"/>
              <a:t>Lookup</a:t>
            </a:r>
            <a:r>
              <a:rPr lang="es-ES" sz="2000" b="1" dirty="0"/>
              <a:t> O(1) </a:t>
            </a:r>
            <a:r>
              <a:rPr lang="es-ES" sz="2000" dirty="0"/>
              <a:t>Es que el tiempo que tarda en ejecutarse es constante, sin importar cuántos datos haya</a:t>
            </a:r>
            <a:endParaRPr lang="es-CO" sz="2000" b="1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5111A9B8-3ED8-4979-25FE-991A2BE619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34945"/>
              </p:ext>
            </p:extLst>
          </p:nvPr>
        </p:nvGraphicFramePr>
        <p:xfrm>
          <a:off x="5306602" y="0"/>
          <a:ext cx="6885397" cy="68580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92221">
                  <a:extLst>
                    <a:ext uri="{9D8B030D-6E8A-4147-A177-3AD203B41FA5}">
                      <a16:colId xmlns:a16="http://schemas.microsoft.com/office/drawing/2014/main" val="2971501532"/>
                    </a:ext>
                  </a:extLst>
                </a:gridCol>
                <a:gridCol w="1037137">
                  <a:extLst>
                    <a:ext uri="{9D8B030D-6E8A-4147-A177-3AD203B41FA5}">
                      <a16:colId xmlns:a16="http://schemas.microsoft.com/office/drawing/2014/main" val="2116727639"/>
                    </a:ext>
                  </a:extLst>
                </a:gridCol>
                <a:gridCol w="1855516">
                  <a:extLst>
                    <a:ext uri="{9D8B030D-6E8A-4147-A177-3AD203B41FA5}">
                      <a16:colId xmlns:a16="http://schemas.microsoft.com/office/drawing/2014/main" val="386595127"/>
                    </a:ext>
                  </a:extLst>
                </a:gridCol>
                <a:gridCol w="1265340">
                  <a:extLst>
                    <a:ext uri="{9D8B030D-6E8A-4147-A177-3AD203B41FA5}">
                      <a16:colId xmlns:a16="http://schemas.microsoft.com/office/drawing/2014/main" val="2603790158"/>
                    </a:ext>
                  </a:extLst>
                </a:gridCol>
                <a:gridCol w="1635183">
                  <a:extLst>
                    <a:ext uri="{9D8B030D-6E8A-4147-A177-3AD203B41FA5}">
                      <a16:colId xmlns:a16="http://schemas.microsoft.com/office/drawing/2014/main" val="4161794540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>
                          <a:effectLst/>
                        </a:rPr>
                        <a:t>Característica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 b="1">
                          <a:effectLst/>
                        </a:rPr>
                        <a:t>Hash Indexes</a:t>
                      </a:r>
                      <a:endParaRPr lang="es-CO" sz="900">
                        <a:effectLst/>
                      </a:endParaRP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 b="1">
                          <a:effectLst/>
                        </a:rPr>
                        <a:t>LSM‑Trees + SSTables</a:t>
                      </a:r>
                      <a:endParaRPr lang="es-CO" sz="900">
                        <a:effectLst/>
                      </a:endParaRP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 b="1">
                          <a:effectLst/>
                        </a:rPr>
                        <a:t>B‑Trees / B+‑Trees</a:t>
                      </a:r>
                      <a:endParaRPr lang="es-CO" sz="900">
                        <a:effectLst/>
                      </a:endParaRP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 b="1">
                          <a:effectLst/>
                        </a:rPr>
                        <a:t>Columnar Storage</a:t>
                      </a:r>
                      <a:endParaRPr lang="es-CO" sz="900">
                        <a:effectLst/>
                      </a:endParaRPr>
                    </a:p>
                  </a:txBody>
                  <a:tcPr marL="43893" marR="43893" marT="21946" marB="21946" anchor="ctr"/>
                </a:tc>
                <a:extLst>
                  <a:ext uri="{0D108BD9-81ED-4DB2-BD59-A6C34878D82A}">
                    <a16:rowId xmlns:a16="http://schemas.microsoft.com/office/drawing/2014/main" val="136478806"/>
                  </a:ext>
                </a:extLst>
              </a:tr>
              <a:tr h="6884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 dirty="0">
                          <a:effectLst/>
                        </a:rPr>
                        <a:t>Tipo de acceso ideal</a:t>
                      </a:r>
                      <a:endParaRPr lang="es-CO" sz="1200" dirty="0">
                        <a:effectLst/>
                      </a:endParaRP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Lookups exactos por clave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Escrituras masivas, lecturas secuenciales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Lecturas y escrituras balanceadas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Lecturas analíticas, agregaciones</a:t>
                      </a:r>
                    </a:p>
                  </a:txBody>
                  <a:tcPr marL="43893" marR="43893" marT="21946" marB="21946" anchor="ctr"/>
                </a:tc>
                <a:extLst>
                  <a:ext uri="{0D108BD9-81ED-4DB2-BD59-A6C34878D82A}">
                    <a16:rowId xmlns:a16="http://schemas.microsoft.com/office/drawing/2014/main" val="27654327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>
                          <a:effectLst/>
                        </a:rPr>
                        <a:t>Acceso por rango</a:t>
                      </a:r>
                      <a:endParaRPr lang="es-CO" sz="1200">
                        <a:effectLst/>
                      </a:endParaRP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❌ Muy pobre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⭐⭐⭐ Bueno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⭐⭐⭐⭐ Excelente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⭐⭐⭐⭐ Excelente</a:t>
                      </a:r>
                    </a:p>
                  </a:txBody>
                  <a:tcPr marL="43893" marR="43893" marT="21946" marB="21946" anchor="ctr"/>
                </a:tc>
                <a:extLst>
                  <a:ext uri="{0D108BD9-81ED-4DB2-BD59-A6C34878D82A}">
                    <a16:rowId xmlns:a16="http://schemas.microsoft.com/office/drawing/2014/main" val="481343477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>
                          <a:effectLst/>
                        </a:rPr>
                        <a:t>Costo de escritura</a:t>
                      </a:r>
                      <a:endParaRPr lang="es-CO" sz="1200">
                        <a:effectLst/>
                      </a:endParaRP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Bajo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Muy bajo (write‑optimized)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Medio (random writes)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Alto</a:t>
                      </a:r>
                    </a:p>
                  </a:txBody>
                  <a:tcPr marL="43893" marR="43893" marT="21946" marB="21946" anchor="ctr"/>
                </a:tc>
                <a:extLst>
                  <a:ext uri="{0D108BD9-81ED-4DB2-BD59-A6C34878D82A}">
                    <a16:rowId xmlns:a16="http://schemas.microsoft.com/office/drawing/2014/main" val="249237785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>
                          <a:effectLst/>
                        </a:rPr>
                        <a:t>Costo de lectura</a:t>
                      </a:r>
                      <a:endParaRPr lang="es-CO" sz="1200">
                        <a:effectLst/>
                      </a:endParaRP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Muy bajo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Medio (niveles + compaction)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Bajo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>
                          <a:effectLst/>
                        </a:rPr>
                        <a:t>Muy bajo para columnas específicas</a:t>
                      </a:r>
                    </a:p>
                  </a:txBody>
                  <a:tcPr marL="43893" marR="43893" marT="21946" marB="21946" anchor="ctr"/>
                </a:tc>
                <a:extLst>
                  <a:ext uri="{0D108BD9-81ED-4DB2-BD59-A6C34878D82A}">
                    <a16:rowId xmlns:a16="http://schemas.microsoft.com/office/drawing/2014/main" val="336270218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>
                          <a:effectLst/>
                        </a:rPr>
                        <a:t>Mutabilidad</a:t>
                      </a:r>
                      <a:endParaRPr lang="es-CO" sz="1200">
                        <a:effectLst/>
                      </a:endParaRP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Mutable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MemTable mutable + SSTables inmutables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Totalmente mutable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Inmutable por bloques</a:t>
                      </a:r>
                    </a:p>
                  </a:txBody>
                  <a:tcPr marL="43893" marR="43893" marT="21946" marB="21946" anchor="ctr"/>
                </a:tc>
                <a:extLst>
                  <a:ext uri="{0D108BD9-81ED-4DB2-BD59-A6C34878D82A}">
                    <a16:rowId xmlns:a16="http://schemas.microsoft.com/office/drawing/2014/main" val="1044707222"/>
                  </a:ext>
                </a:extLst>
              </a:tr>
              <a:tr h="291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>
                          <a:effectLst/>
                        </a:rPr>
                        <a:t>Compresión</a:t>
                      </a:r>
                      <a:endParaRPr lang="es-CO" sz="1200">
                        <a:effectLst/>
                      </a:endParaRP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Baja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Media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Baja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Muy alta</a:t>
                      </a:r>
                    </a:p>
                  </a:txBody>
                  <a:tcPr marL="43893" marR="43893" marT="21946" marB="21946" anchor="ctr"/>
                </a:tc>
                <a:extLst>
                  <a:ext uri="{0D108BD9-81ED-4DB2-BD59-A6C34878D82A}">
                    <a16:rowId xmlns:a16="http://schemas.microsoft.com/office/drawing/2014/main" val="853366583"/>
                  </a:ext>
                </a:extLst>
              </a:tr>
              <a:tr h="291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>
                          <a:effectLst/>
                        </a:rPr>
                        <a:t>Patrón de I/O</a:t>
                      </a:r>
                      <a:endParaRPr lang="es-CO" sz="1200">
                        <a:effectLst/>
                      </a:endParaRP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Random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Secuencial (append‑only)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Random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Secuencial columnar</a:t>
                      </a:r>
                    </a:p>
                  </a:txBody>
                  <a:tcPr marL="43893" marR="43893" marT="21946" marB="21946" anchor="ctr"/>
                </a:tc>
                <a:extLst>
                  <a:ext uri="{0D108BD9-81ED-4DB2-BD59-A6C34878D82A}">
                    <a16:rowId xmlns:a16="http://schemas.microsoft.com/office/drawing/2014/main" val="361579956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>
                          <a:effectLst/>
                        </a:rPr>
                        <a:t>Adecuado para OLTP</a:t>
                      </a:r>
                      <a:endParaRPr lang="es-CO" sz="1200">
                        <a:effectLst/>
                      </a:endParaRP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⭐⭐⭐⭐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⭐⭐⭐⭐ (si hay muchas escrituras)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⭐⭐⭐⭐⭐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⭐</a:t>
                      </a:r>
                    </a:p>
                  </a:txBody>
                  <a:tcPr marL="43893" marR="43893" marT="21946" marB="21946" anchor="ctr"/>
                </a:tc>
                <a:extLst>
                  <a:ext uri="{0D108BD9-81ED-4DB2-BD59-A6C34878D82A}">
                    <a16:rowId xmlns:a16="http://schemas.microsoft.com/office/drawing/2014/main" val="38583338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>
                          <a:effectLst/>
                        </a:rPr>
                        <a:t>Adecuado para OLAP</a:t>
                      </a:r>
                      <a:endParaRPr lang="es-CO" sz="1200">
                        <a:effectLst/>
                      </a:endParaRP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⭐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⭐⭐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⭐⭐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⭐⭐⭐⭐⭐</a:t>
                      </a:r>
                    </a:p>
                  </a:txBody>
                  <a:tcPr marL="43893" marR="43893" marT="21946" marB="21946" anchor="ctr"/>
                </a:tc>
                <a:extLst>
                  <a:ext uri="{0D108BD9-81ED-4DB2-BD59-A6C34878D82A}">
                    <a16:rowId xmlns:a16="http://schemas.microsoft.com/office/drawing/2014/main" val="142554225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>
                          <a:effectLst/>
                        </a:rPr>
                        <a:t>Casos típicos</a:t>
                      </a:r>
                      <a:endParaRPr lang="es-CO" sz="1200">
                        <a:effectLst/>
                      </a:endParaRP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Caches, KV stores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>
                          <a:effectLst/>
                        </a:rPr>
                        <a:t>Time‑series, ingestión masiva, KV stores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SQL OLTP, índices primarios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Data warehouses, BI</a:t>
                      </a:r>
                    </a:p>
                  </a:txBody>
                  <a:tcPr marL="43893" marR="43893" marT="21946" marB="21946" anchor="ctr"/>
                </a:tc>
                <a:extLst>
                  <a:ext uri="{0D108BD9-81ED-4DB2-BD59-A6C34878D82A}">
                    <a16:rowId xmlns:a16="http://schemas.microsoft.com/office/drawing/2014/main" val="2026625974"/>
                  </a:ext>
                </a:extLst>
              </a:tr>
              <a:tr h="6884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>
                          <a:effectLst/>
                        </a:rPr>
                        <a:t>Ejemplos reales</a:t>
                      </a:r>
                      <a:endParaRPr lang="es-CO" sz="1200">
                        <a:effectLst/>
                      </a:endParaRP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Redis, Memcached, DynamoDB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Cassandra, RocksDB, LevelDB, HBase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PostgreSQL, MySQL, SQLite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ClickHouse, BigQuery, Redshift, Parquet</a:t>
                      </a:r>
                    </a:p>
                  </a:txBody>
                  <a:tcPr marL="43893" marR="43893" marT="21946" marB="21946" anchor="ctr"/>
                </a:tc>
                <a:extLst>
                  <a:ext uri="{0D108BD9-81ED-4DB2-BD59-A6C34878D82A}">
                    <a16:rowId xmlns:a16="http://schemas.microsoft.com/office/drawing/2014/main" val="8004880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>
                          <a:effectLst/>
                        </a:rPr>
                        <a:t>Ventaja clave</a:t>
                      </a:r>
                      <a:endParaRPr lang="es-CO" sz="1200">
                        <a:effectLst/>
                      </a:endParaRP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dirty="0" err="1">
                          <a:effectLst/>
                        </a:rPr>
                        <a:t>Lookup</a:t>
                      </a:r>
                      <a:r>
                        <a:rPr lang="es-CO" sz="1200" dirty="0">
                          <a:effectLst/>
                        </a:rPr>
                        <a:t> O(1)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Throughput de escritura altísimo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Acceso por rango eficiente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Analítica veloz y comprimida</a:t>
                      </a:r>
                    </a:p>
                  </a:txBody>
                  <a:tcPr marL="43893" marR="43893" marT="21946" marB="21946" anchor="ctr"/>
                </a:tc>
                <a:extLst>
                  <a:ext uri="{0D108BD9-81ED-4DB2-BD59-A6C34878D82A}">
                    <a16:rowId xmlns:a16="http://schemas.microsoft.com/office/drawing/2014/main" val="74748735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>
                          <a:effectLst/>
                        </a:rPr>
                        <a:t>Desventaja clave</a:t>
                      </a:r>
                      <a:endParaRPr lang="es-CO" sz="1200">
                        <a:effectLst/>
                      </a:endParaRP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No sirve para rangos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Lecturas más costosas, compaction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Random writes costosos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dirty="0">
                          <a:effectLst/>
                        </a:rPr>
                        <a:t>Escrituras lentas</a:t>
                      </a:r>
                    </a:p>
                  </a:txBody>
                  <a:tcPr marL="43893" marR="43893" marT="21946" marB="21946" anchor="ctr"/>
                </a:tc>
                <a:extLst>
                  <a:ext uri="{0D108BD9-81ED-4DB2-BD59-A6C34878D82A}">
                    <a16:rowId xmlns:a16="http://schemas.microsoft.com/office/drawing/2014/main" val="895847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6664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9FD1BD-8E3B-20CB-C70C-D481EBB62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265"/>
            <a:ext cx="5791199" cy="1401183"/>
          </a:xfrm>
        </p:spPr>
        <p:txBody>
          <a:bodyPr anchor="t">
            <a:normAutofit/>
          </a:bodyPr>
          <a:lstStyle/>
          <a:p>
            <a:r>
              <a:rPr lang="es-ES" sz="3200" b="1"/>
              <a:t>Qué es un plan de ejecución (y cómo leerlo en 30s)</a:t>
            </a:r>
            <a:endParaRPr lang="es-CO" sz="32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81DD5B-08AD-AF60-2361-C95D2ADE6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551176"/>
            <a:ext cx="5791199" cy="3602935"/>
          </a:xfrm>
        </p:spPr>
        <p:txBody>
          <a:bodyPr>
            <a:normAutofit/>
          </a:bodyPr>
          <a:lstStyle/>
          <a:p>
            <a:r>
              <a:rPr lang="es-ES" sz="2000"/>
              <a:t>Regla de oro: </a:t>
            </a:r>
            <a:r>
              <a:rPr lang="es-ES" sz="2000" b="1"/>
              <a:t>el plan es un árbol de operadores</a:t>
            </a:r>
            <a:endParaRPr lang="es-ES" sz="2000"/>
          </a:p>
          <a:p>
            <a:r>
              <a:rPr lang="es-ES" sz="2000"/>
              <a:t>Qué buscar:</a:t>
            </a:r>
          </a:p>
          <a:p>
            <a:pPr lvl="1"/>
            <a:r>
              <a:rPr lang="es-ES" sz="2000" b="1"/>
              <a:t>SCAN</a:t>
            </a:r>
            <a:r>
              <a:rPr lang="es-ES" sz="2000"/>
              <a:t> (cuánto lees)</a:t>
            </a:r>
          </a:p>
          <a:p>
            <a:pPr lvl="1"/>
            <a:r>
              <a:rPr lang="es-ES" sz="2000" b="1"/>
              <a:t>FILTER</a:t>
            </a:r>
            <a:r>
              <a:rPr lang="es-ES" sz="2000"/>
              <a:t> (temprano vs tarde)</a:t>
            </a:r>
          </a:p>
          <a:p>
            <a:pPr lvl="1"/>
            <a:r>
              <a:rPr lang="es-ES" sz="2000" b="1"/>
              <a:t>JOIN</a:t>
            </a:r>
            <a:r>
              <a:rPr lang="es-ES" sz="2000"/>
              <a:t> (y cardinalidad)</a:t>
            </a:r>
          </a:p>
          <a:p>
            <a:pPr lvl="1"/>
            <a:r>
              <a:rPr lang="es-ES" sz="2000" b="1"/>
              <a:t>GROUP BY</a:t>
            </a:r>
            <a:r>
              <a:rPr lang="es-ES" sz="2000"/>
              <a:t> (cuántas filas entran)</a:t>
            </a:r>
          </a:p>
          <a:p>
            <a:pPr lvl="1"/>
            <a:r>
              <a:rPr lang="es-ES" sz="2000" b="1"/>
              <a:t>CARDINALIDAD</a:t>
            </a:r>
            <a:r>
              <a:rPr lang="es-ES" sz="2000"/>
              <a:t> por operador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8BC164-E230-753F-2C7E-B4EE7BA77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8086" y="0"/>
            <a:ext cx="4803913" cy="68580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074BCDDB-7F74-3910-EDC9-F6204E69A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7561" y="70943"/>
            <a:ext cx="2484961" cy="671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270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CA3335-87E7-D5BE-C713-FFCC2D557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anchor="t">
            <a:normAutofit/>
          </a:bodyPr>
          <a:lstStyle/>
          <a:p>
            <a:r>
              <a:rPr lang="es-ES" sz="3200" b="1"/>
              <a:t>EXPLAIN vs EXPLAIN ANALYZE</a:t>
            </a:r>
            <a:endParaRPr lang="es-CO" sz="32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3791CD-F6C7-9A9A-D758-D463B3C15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40" y="2551176"/>
            <a:ext cx="4544762" cy="3602935"/>
          </a:xfrm>
        </p:spPr>
        <p:txBody>
          <a:bodyPr>
            <a:normAutofit/>
          </a:bodyPr>
          <a:lstStyle/>
          <a:p>
            <a:r>
              <a:rPr lang="es-ES" sz="2000" b="1"/>
              <a:t>EXPLAIN</a:t>
            </a:r>
            <a:r>
              <a:rPr lang="es-ES" sz="2000"/>
              <a:t> = plan </a:t>
            </a:r>
            <a:r>
              <a:rPr lang="es-ES" sz="2000" b="1"/>
              <a:t>sin ejecutar</a:t>
            </a:r>
            <a:r>
              <a:rPr lang="es-ES" sz="2000"/>
              <a:t>, con cardinalidades </a:t>
            </a:r>
            <a:r>
              <a:rPr lang="es-ES" sz="2000" b="1"/>
              <a:t>estimadas</a:t>
            </a:r>
            <a:endParaRPr lang="es-ES" sz="2000"/>
          </a:p>
          <a:p>
            <a:r>
              <a:rPr lang="es-ES" sz="2000" b="1"/>
              <a:t>EXPLAIN ANALYZE</a:t>
            </a:r>
            <a:r>
              <a:rPr lang="es-ES" sz="2000"/>
              <a:t> = ejecuta y muestra cardinalidades </a:t>
            </a:r>
            <a:r>
              <a:rPr lang="es-ES" sz="2000" b="1"/>
              <a:t>reales + tiempos</a:t>
            </a:r>
            <a:endParaRPr lang="es-CO" sz="200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93FA43FD-A2A0-A9F6-36BC-824B1E332A60}"/>
              </a:ext>
            </a:extLst>
          </p:cNvPr>
          <p:cNvGrpSpPr/>
          <p:nvPr/>
        </p:nvGrpSpPr>
        <p:grpSpPr>
          <a:xfrm>
            <a:off x="6593306" y="0"/>
            <a:ext cx="5374106" cy="6857997"/>
            <a:chOff x="2467603" y="43098"/>
            <a:chExt cx="4831555" cy="6814902"/>
          </a:xfrm>
        </p:grpSpPr>
        <p:pic>
          <p:nvPicPr>
            <p:cNvPr id="5" name="Imagen 4" descr="Pantalla de celular con números&#10;&#10;El contenido generado por IA puede ser incorrecto.">
              <a:extLst>
                <a:ext uri="{FF2B5EF4-FFF2-40B4-BE49-F238E27FC236}">
                  <a16:creationId xmlns:a16="http://schemas.microsoft.com/office/drawing/2014/main" id="{28083F83-ED73-6F4E-79F5-96601CC4A7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3333"/>
            <a:stretch>
              <a:fillRect/>
            </a:stretch>
          </p:blipFill>
          <p:spPr>
            <a:xfrm>
              <a:off x="5165620" y="43098"/>
              <a:ext cx="2133538" cy="6814902"/>
            </a:xfrm>
            <a:prstGeom prst="rect">
              <a:avLst/>
            </a:prstGeom>
          </p:spPr>
        </p:pic>
        <p:pic>
          <p:nvPicPr>
            <p:cNvPr id="6" name="Imagen 5" descr="Imagen que contiene Diagrama&#10;&#10;El contenido generado por IA puede ser incorrecto.">
              <a:extLst>
                <a:ext uri="{FF2B5EF4-FFF2-40B4-BE49-F238E27FC236}">
                  <a16:creationId xmlns:a16="http://schemas.microsoft.com/office/drawing/2014/main" id="{5A3F4EFA-5F6C-CA36-B926-AE803F6213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67603" y="141887"/>
              <a:ext cx="2484961" cy="67161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90152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FAFEE0-833B-76C0-99C2-98A0D3469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Marcador de contenido 4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1E7CEB69-4B3F-2EDE-C889-CB91F9A8D8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530" y="1825625"/>
            <a:ext cx="664494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882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C6BB83-46DE-7981-ED8E-7E76E7BE4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anchor="t">
            <a:normAutofit/>
          </a:bodyPr>
          <a:lstStyle/>
          <a:p>
            <a:r>
              <a:rPr lang="es-CO" sz="3200" b="1"/>
              <a:t>SCAN (SELECT * vs skinny)</a:t>
            </a:r>
            <a:endParaRPr lang="es-CO" sz="320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3F636F-49DC-9020-3BD3-573D26C85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40" y="2551176"/>
            <a:ext cx="4544762" cy="3602935"/>
          </a:xfrm>
        </p:spPr>
        <p:txBody>
          <a:bodyPr>
            <a:normAutofit/>
          </a:bodyPr>
          <a:lstStyle/>
          <a:p>
            <a:r>
              <a:rPr lang="es-CO" sz="2000" b="1"/>
              <a:t>En analítica, leer columnas cuesta</a:t>
            </a:r>
            <a:endParaRPr lang="es-CO" sz="2000"/>
          </a:p>
          <a:p>
            <a:r>
              <a:rPr lang="es-CO" sz="2000"/>
              <a:t>Dos consultas:</a:t>
            </a:r>
          </a:p>
          <a:p>
            <a:pPr lvl="1"/>
            <a:r>
              <a:rPr lang="es-CO" sz="2000"/>
              <a:t>SELECT * FROM fact_planet WHERE disc_year &gt;= 2015</a:t>
            </a:r>
          </a:p>
          <a:p>
            <a:pPr lvl="1"/>
            <a:r>
              <a:rPr lang="es-CO" sz="2000"/>
              <a:t>SELECT pl_name, hostname, disc_year FROM fact_planet WHERE disc_year &gt;= 2015</a:t>
            </a:r>
          </a:p>
          <a:p>
            <a:r>
              <a:rPr lang="es-CO" sz="2000"/>
              <a:t>Qué esperamos:</a:t>
            </a:r>
          </a:p>
          <a:p>
            <a:pPr lvl="1"/>
            <a:r>
              <a:rPr lang="es-CO" sz="2000"/>
              <a:t>Menos columnas → plan más liviano (y menos I/O)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7F8460F0-74A2-7E43-F057-B69AD94C4A15}"/>
              </a:ext>
            </a:extLst>
          </p:cNvPr>
          <p:cNvGrpSpPr/>
          <p:nvPr/>
        </p:nvGrpSpPr>
        <p:grpSpPr>
          <a:xfrm>
            <a:off x="6769541" y="771753"/>
            <a:ext cx="3960573" cy="5316095"/>
            <a:chOff x="5405029" y="275784"/>
            <a:chExt cx="4698388" cy="6306430"/>
          </a:xfrm>
        </p:grpSpPr>
        <p:pic>
          <p:nvPicPr>
            <p:cNvPr id="5" name="Imagen 4" descr="Imagen que contiene Diagrama&#10;&#10;El contenido generado por IA puede ser incorrecto.">
              <a:extLst>
                <a:ext uri="{FF2B5EF4-FFF2-40B4-BE49-F238E27FC236}">
                  <a16:creationId xmlns:a16="http://schemas.microsoft.com/office/drawing/2014/main" id="{9D2646BE-AD3E-6D71-56B3-5D54A94EC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05029" y="1180785"/>
              <a:ext cx="2248214" cy="4496427"/>
            </a:xfrm>
            <a:prstGeom prst="rect">
              <a:avLst/>
            </a:prstGeom>
          </p:spPr>
        </p:pic>
        <p:pic>
          <p:nvPicPr>
            <p:cNvPr id="7" name="Imagen 6" descr="Diagrama&#10;&#10;El contenido generado por IA puede ser incorrecto.">
              <a:extLst>
                <a:ext uri="{FF2B5EF4-FFF2-40B4-BE49-F238E27FC236}">
                  <a16:creationId xmlns:a16="http://schemas.microsoft.com/office/drawing/2014/main" id="{5663A48E-35FF-378E-90A7-4DD2343B8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59993" y="275784"/>
              <a:ext cx="2143424" cy="63064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89485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86BD09-E39D-BDD6-2EFF-0DD0AB25C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anchor="t">
            <a:normAutofit/>
          </a:bodyPr>
          <a:lstStyle/>
          <a:p>
            <a:r>
              <a:rPr lang="es-CO" sz="3000" b="1"/>
              <a:t>JOIN que infla” (cardinalidad mal controlada)</a:t>
            </a:r>
            <a:endParaRPr lang="es-CO" sz="30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DC02B3-0483-FB7C-B9FB-D63785973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39" y="2551176"/>
            <a:ext cx="6408981" cy="3602935"/>
          </a:xfrm>
        </p:spPr>
        <p:txBody>
          <a:bodyPr>
            <a:normAutofit/>
          </a:bodyPr>
          <a:lstStyle/>
          <a:p>
            <a:r>
              <a:rPr lang="es-CO" sz="1900" dirty="0"/>
              <a:t>Regla práctica:</a:t>
            </a:r>
          </a:p>
          <a:p>
            <a:pPr lvl="1"/>
            <a:r>
              <a:rPr lang="es-CO" sz="1900" dirty="0"/>
              <a:t>Si tu dimensión es </a:t>
            </a:r>
            <a:r>
              <a:rPr lang="es-CO" sz="1900" b="1" dirty="0"/>
              <a:t>1 fila por clave</a:t>
            </a:r>
            <a:r>
              <a:rPr lang="es-CO" sz="1900" dirty="0"/>
              <a:t>, entonces COUNT(</a:t>
            </a:r>
            <a:r>
              <a:rPr lang="es-CO" sz="1900" dirty="0" err="1"/>
              <a:t>join</a:t>
            </a:r>
            <a:r>
              <a:rPr lang="es-CO" sz="1900" dirty="0"/>
              <a:t>) </a:t>
            </a:r>
            <a:r>
              <a:rPr lang="es-CO" sz="1900" b="1" dirty="0"/>
              <a:t>no debería inflar</a:t>
            </a:r>
            <a:r>
              <a:rPr lang="es-CO" sz="1900" dirty="0"/>
              <a:t> frente a COUNT(</a:t>
            </a:r>
            <a:r>
              <a:rPr lang="es-CO" sz="1900" dirty="0" err="1"/>
              <a:t>fact</a:t>
            </a:r>
            <a:r>
              <a:rPr lang="es-CO" sz="1900" dirty="0"/>
              <a:t>)</a:t>
            </a:r>
          </a:p>
          <a:p>
            <a:r>
              <a:rPr lang="es-CO" sz="1900" dirty="0"/>
              <a:t>Evidencia mínima:</a:t>
            </a:r>
          </a:p>
          <a:p>
            <a:pPr lvl="1"/>
            <a:r>
              <a:rPr lang="es-CO" sz="1900" dirty="0" err="1"/>
              <a:t>n_fact</a:t>
            </a:r>
            <a:endParaRPr lang="es-CO" sz="1900" dirty="0"/>
          </a:p>
          <a:p>
            <a:pPr lvl="1"/>
            <a:r>
              <a:rPr lang="es-CO" sz="1900" dirty="0" err="1"/>
              <a:t>n_join</a:t>
            </a:r>
            <a:r>
              <a:rPr lang="es-CO" sz="1900" dirty="0"/>
              <a:t> (LEFT JOIN)</a:t>
            </a:r>
          </a:p>
          <a:p>
            <a:r>
              <a:rPr lang="es-CO" sz="1900" dirty="0" err="1"/>
              <a:t>dim_host_full</a:t>
            </a:r>
            <a:r>
              <a:rPr lang="es-CO" sz="1900" dirty="0"/>
              <a:t> (</a:t>
            </a:r>
            <a:r>
              <a:rPr lang="es-CO" sz="1900" dirty="0" err="1"/>
              <a:t>hostname</a:t>
            </a:r>
            <a:r>
              <a:rPr lang="es-CO" sz="1900" dirty="0"/>
              <a:t> único ✅) → JOIN sano</a:t>
            </a:r>
          </a:p>
          <a:p>
            <a:r>
              <a:rPr lang="es-CO" sz="1900" dirty="0" err="1"/>
              <a:t>dim</a:t>
            </a:r>
            <a:r>
              <a:rPr lang="es-CO" sz="1900" dirty="0"/>
              <a:t> con duplicados (</a:t>
            </a:r>
            <a:r>
              <a:rPr lang="es-CO" sz="1900" dirty="0" err="1"/>
              <a:t>hostname</a:t>
            </a:r>
            <a:r>
              <a:rPr lang="es-CO" sz="1900" dirty="0"/>
              <a:t> repetido ❌) → JOIN infla</a:t>
            </a:r>
          </a:p>
        </p:txBody>
      </p:sp>
      <p:pic>
        <p:nvPicPr>
          <p:cNvPr id="5" name="Imagen 4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A64CC58A-3115-F911-0958-8D3A4C3DC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8274" y="0"/>
            <a:ext cx="3508905" cy="6747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428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DAA06D-E9DC-3E54-0B3D-82B3DC4E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anchor="t">
            <a:normAutofit/>
          </a:bodyPr>
          <a:lstStyle/>
          <a:p>
            <a:r>
              <a:rPr lang="es-ES" sz="3200" b="1"/>
              <a:t>GROUP BY caro (entra demasiada data)</a:t>
            </a:r>
            <a:endParaRPr lang="es-CO" sz="32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8623EB-0A08-B4E0-960D-98F3C2F14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40" y="2551176"/>
            <a:ext cx="4544762" cy="3602935"/>
          </a:xfrm>
        </p:spPr>
        <p:txBody>
          <a:bodyPr>
            <a:normAutofit/>
          </a:bodyPr>
          <a:lstStyle/>
          <a:p>
            <a:r>
              <a:rPr lang="es-ES" sz="2000" dirty="0"/>
              <a:t>El GROUP BY se vuelve caro si:</a:t>
            </a:r>
          </a:p>
          <a:p>
            <a:pPr lvl="2"/>
            <a:r>
              <a:rPr lang="es-ES" dirty="0"/>
              <a:t>entra demasiada cardinalidad (N muy alto)</a:t>
            </a:r>
          </a:p>
          <a:p>
            <a:pPr lvl="2"/>
            <a:r>
              <a:rPr lang="es-ES" dirty="0"/>
              <a:t>no filtraste temprano</a:t>
            </a:r>
          </a:p>
          <a:p>
            <a:r>
              <a:rPr lang="es-ES" sz="2000" dirty="0"/>
              <a:t>Qué haría:</a:t>
            </a:r>
          </a:p>
          <a:p>
            <a:pPr lvl="1"/>
            <a:r>
              <a:rPr lang="es-ES" sz="2000" dirty="0"/>
              <a:t>Filtrar antes</a:t>
            </a:r>
          </a:p>
          <a:p>
            <a:pPr lvl="1"/>
            <a:r>
              <a:rPr lang="es-ES" sz="2000" dirty="0"/>
              <a:t>Seleccionar menos columnas</a:t>
            </a:r>
          </a:p>
          <a:p>
            <a:pPr lvl="1"/>
            <a:r>
              <a:rPr lang="es-ES" sz="2000" dirty="0"/>
              <a:t>Revisar si el </a:t>
            </a:r>
            <a:r>
              <a:rPr lang="es-ES" sz="2000" dirty="0" err="1"/>
              <a:t>join</a:t>
            </a:r>
            <a:r>
              <a:rPr lang="es-ES" sz="2000" dirty="0"/>
              <a:t> está inflando antes del </a:t>
            </a:r>
            <a:r>
              <a:rPr lang="es-ES" sz="2000" dirty="0" err="1"/>
              <a:t>group</a:t>
            </a:r>
            <a:endParaRPr lang="es-ES" sz="2000" dirty="0"/>
          </a:p>
          <a:p>
            <a:endParaRPr lang="es-CO" sz="2000" dirty="0"/>
          </a:p>
        </p:txBody>
      </p:sp>
      <p:pic>
        <p:nvPicPr>
          <p:cNvPr id="5" name="Imagen 4" descr="Pantalla de un video juego&#10;&#10;El contenido generado por IA puede ser incorrecto.">
            <a:extLst>
              <a:ext uri="{FF2B5EF4-FFF2-40B4-BE49-F238E27FC236}">
                <a16:creationId xmlns:a16="http://schemas.microsoft.com/office/drawing/2014/main" id="{6AA67520-0E46-BC1E-5B44-6DD9B4681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803" y="0"/>
            <a:ext cx="3007502" cy="6835234"/>
          </a:xfrm>
          <a:prstGeom prst="rect">
            <a:avLst/>
          </a:prstGeom>
        </p:spPr>
      </p:pic>
      <p:pic>
        <p:nvPicPr>
          <p:cNvPr id="6" name="Imagen 5" descr="Pantalla de un video juego&#10;&#10;El contenido generado por IA puede ser incorrecto.">
            <a:extLst>
              <a:ext uri="{FF2B5EF4-FFF2-40B4-BE49-F238E27FC236}">
                <a16:creationId xmlns:a16="http://schemas.microsoft.com/office/drawing/2014/main" id="{02BB775D-62EC-BED1-47E9-4E4878B108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830" r="48007" b="59551"/>
          <a:stretch>
            <a:fillRect/>
          </a:stretch>
        </p:blipFill>
        <p:spPr>
          <a:xfrm>
            <a:off x="9755918" y="1557867"/>
            <a:ext cx="2425175" cy="207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543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BD22343-8163-ECA1-F65D-3347ABD8AE0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3743" b="125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21967D-DBAE-4166-5E5A-CA1274D86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O" b="1" dirty="0" err="1"/>
              <a:t>Profiling</a:t>
            </a:r>
            <a:r>
              <a:rPr lang="es-CO" b="1" dirty="0"/>
              <a:t> (opcional): modo lupa</a:t>
            </a:r>
            <a:endParaRPr lang="es-CO" dirty="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0978607D-26AD-D1C4-543A-ED410B6A19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760173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091139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CA6DF4-FD71-55A8-D255-1B29C4D23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s-ES" sz="5200" b="1">
                <a:solidFill>
                  <a:srgbClr val="FFFFFF"/>
                </a:solidFill>
              </a:rPr>
              <a:t>Entregables y evidencia</a:t>
            </a:r>
            <a:endParaRPr lang="es-CO" sz="5200">
              <a:solidFill>
                <a:srgbClr val="FFFFFF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AAC401-6448-2183-28C7-654EFDDF9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1700" b="1" dirty="0">
                <a:solidFill>
                  <a:schemeClr val="tx1">
                    <a:alpha val="80000"/>
                  </a:schemeClr>
                </a:solidFill>
              </a:rPr>
              <a:t>En clase</a:t>
            </a:r>
            <a:endParaRPr lang="es-ES" sz="17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s-ES" sz="1700" dirty="0">
                <a:solidFill>
                  <a:schemeClr val="tx1">
                    <a:alpha val="80000"/>
                  </a:schemeClr>
                </a:solidFill>
              </a:rPr>
              <a:t>docs/w04a_perf_report.md</a:t>
            </a:r>
          </a:p>
          <a:p>
            <a:pPr lvl="1"/>
            <a:r>
              <a:rPr lang="es-ES" sz="1700" dirty="0">
                <a:solidFill>
                  <a:schemeClr val="tx1">
                    <a:alpha val="80000"/>
                  </a:schemeClr>
                </a:solidFill>
              </a:rPr>
              <a:t>2 planes pegados (EXPLAIN)</a:t>
            </a:r>
          </a:p>
          <a:p>
            <a:pPr lvl="1"/>
            <a:r>
              <a:rPr lang="es-ES" sz="1700" dirty="0">
                <a:solidFill>
                  <a:schemeClr val="tx1">
                    <a:alpha val="80000"/>
                  </a:schemeClr>
                </a:solidFill>
              </a:rPr>
              <a:t>2 conclusiones (2–3 líneas)</a:t>
            </a:r>
          </a:p>
          <a:p>
            <a:r>
              <a:rPr lang="es-ES" sz="1700" dirty="0">
                <a:solidFill>
                  <a:schemeClr val="tx1">
                    <a:alpha val="80000"/>
                  </a:schemeClr>
                </a:solidFill>
              </a:rPr>
              <a:t>docs/decisions_log.md</a:t>
            </a:r>
          </a:p>
          <a:p>
            <a:pPr lvl="1"/>
            <a:r>
              <a:rPr lang="es-ES" sz="1700" dirty="0">
                <a:solidFill>
                  <a:schemeClr val="tx1">
                    <a:alpha val="80000"/>
                  </a:schemeClr>
                </a:solidFill>
              </a:rPr>
              <a:t>“reescribí para reducir costo” + evidencia</a:t>
            </a:r>
          </a:p>
          <a:p>
            <a:pPr marL="0" indent="0">
              <a:buNone/>
            </a:pPr>
            <a:r>
              <a:rPr lang="es-ES" sz="1700" b="1" dirty="0">
                <a:solidFill>
                  <a:schemeClr val="tx1">
                    <a:alpha val="80000"/>
                  </a:schemeClr>
                </a:solidFill>
              </a:rPr>
              <a:t>Tarea</a:t>
            </a:r>
            <a:endParaRPr lang="es-ES" sz="17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s-ES" sz="1700" dirty="0">
                <a:solidFill>
                  <a:schemeClr val="tx1">
                    <a:alpha val="80000"/>
                  </a:schemeClr>
                </a:solidFill>
              </a:rPr>
              <a:t>1 EXPLAIN ANALYZE pegado</a:t>
            </a:r>
          </a:p>
          <a:p>
            <a:r>
              <a:rPr lang="es-ES" sz="1700" dirty="0">
                <a:solidFill>
                  <a:schemeClr val="tx1">
                    <a:alpha val="80000"/>
                  </a:schemeClr>
                </a:solidFill>
              </a:rPr>
              <a:t>1 evidencia exportada a </a:t>
            </a:r>
            <a:r>
              <a:rPr lang="es-ES" sz="1700" dirty="0" err="1">
                <a:solidFill>
                  <a:schemeClr val="tx1">
                    <a:alpha val="80000"/>
                  </a:schemeClr>
                </a:solidFill>
              </a:rPr>
              <a:t>artifacts</a:t>
            </a:r>
            <a:r>
              <a:rPr lang="es-ES" sz="1700" dirty="0">
                <a:solidFill>
                  <a:schemeClr val="tx1">
                    <a:alpha val="80000"/>
                  </a:schemeClr>
                </a:solidFill>
              </a:rPr>
              <a:t>/ (plan como texto está OK)</a:t>
            </a:r>
          </a:p>
          <a:p>
            <a:pPr marL="0" indent="0">
              <a:buNone/>
            </a:pPr>
            <a:r>
              <a:rPr lang="es-ES" sz="1700" b="1" dirty="0">
                <a:solidFill>
                  <a:schemeClr val="tx1">
                    <a:alpha val="80000"/>
                  </a:schemeClr>
                </a:solidFill>
              </a:rPr>
              <a:t>Árbol de carpetas mini:</a:t>
            </a:r>
          </a:p>
          <a:p>
            <a:pPr lvl="1"/>
            <a:r>
              <a:rPr lang="es-ES" sz="1700" dirty="0" err="1">
                <a:solidFill>
                  <a:schemeClr val="tx1">
                    <a:alpha val="80000"/>
                  </a:schemeClr>
                </a:solidFill>
              </a:rPr>
              <a:t>docs</a:t>
            </a:r>
            <a:r>
              <a:rPr lang="es-ES" sz="1700" dirty="0">
                <a:solidFill>
                  <a:schemeClr val="tx1">
                    <a:alpha val="80000"/>
                  </a:schemeClr>
                </a:solidFill>
              </a:rPr>
              <a:t>/</a:t>
            </a:r>
          </a:p>
          <a:p>
            <a:pPr lvl="1"/>
            <a:r>
              <a:rPr lang="es-ES" sz="1700" dirty="0" err="1">
                <a:solidFill>
                  <a:schemeClr val="tx1">
                    <a:alpha val="80000"/>
                  </a:schemeClr>
                </a:solidFill>
              </a:rPr>
              <a:t>artifacts</a:t>
            </a:r>
            <a:r>
              <a:rPr lang="es-ES" sz="1700" dirty="0">
                <a:solidFill>
                  <a:schemeClr val="tx1">
                    <a:alpha val="80000"/>
                  </a:schemeClr>
                </a:solidFill>
              </a:rPr>
              <a:t>/</a:t>
            </a:r>
          </a:p>
          <a:p>
            <a:pPr lvl="1"/>
            <a:r>
              <a:rPr lang="es-ES" sz="1700" dirty="0">
                <a:solidFill>
                  <a:schemeClr val="tx1">
                    <a:alpha val="80000"/>
                  </a:schemeClr>
                </a:solidFill>
              </a:rPr>
              <a:t>data/</a:t>
            </a:r>
          </a:p>
          <a:p>
            <a:pPr lvl="1"/>
            <a:r>
              <a:rPr lang="es-ES" sz="1700" dirty="0">
                <a:solidFill>
                  <a:schemeClr val="tx1">
                    <a:alpha val="80000"/>
                  </a:schemeClr>
                </a:solidFill>
              </a:rPr>
              <a:t>notebooks/</a:t>
            </a:r>
          </a:p>
          <a:p>
            <a:pPr marL="0" indent="0">
              <a:buNone/>
            </a:pPr>
            <a:r>
              <a:rPr lang="es-ES" sz="1700" dirty="0">
                <a:solidFill>
                  <a:schemeClr val="tx1">
                    <a:alpha val="80000"/>
                  </a:schemeClr>
                </a:solidFill>
              </a:rPr>
              <a:t>“El entregable no es ‘que corra’. Es: </a:t>
            </a:r>
            <a:r>
              <a:rPr lang="es-ES" sz="1700" i="1" dirty="0">
                <a:solidFill>
                  <a:schemeClr val="tx1">
                    <a:alpha val="80000"/>
                  </a:schemeClr>
                </a:solidFill>
              </a:rPr>
              <a:t>corrí, medí, leí el plan, y lo interpreté</a:t>
            </a:r>
            <a:r>
              <a:rPr lang="es-ES" sz="1700" dirty="0">
                <a:solidFill>
                  <a:schemeClr val="tx1">
                    <a:alpha val="80000"/>
                  </a:schemeClr>
                </a:solidFill>
              </a:rPr>
              <a:t>.”</a:t>
            </a:r>
          </a:p>
          <a:p>
            <a:endParaRPr lang="es-CO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10098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915</Words>
  <Application>Microsoft Office PowerPoint</Application>
  <PresentationFormat>Panorámica</PresentationFormat>
  <Paragraphs>172</Paragraphs>
  <Slides>16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Tema de Office</vt:lpstr>
      <vt:lpstr>EXPLAIN + Cardinalidad + Performance</vt:lpstr>
      <vt:lpstr>Dónde estamos en el curso</vt:lpstr>
      <vt:lpstr>Presentación de PowerPoint</vt:lpstr>
      <vt:lpstr>Hash</vt:lpstr>
      <vt:lpstr>SSTables + LSM-Trees</vt:lpstr>
      <vt:lpstr>B-Trees</vt:lpstr>
      <vt:lpstr>Columnaar</vt:lpstr>
      <vt:lpstr>OLTP vs OLAP (por qué duele el scan)</vt:lpstr>
      <vt:lpstr>Qué es un plan de ejecución (y cómo leerlo en 30s)</vt:lpstr>
      <vt:lpstr>EXPLAIN vs EXPLAIN ANALYZE</vt:lpstr>
      <vt:lpstr>Presentación de PowerPoint</vt:lpstr>
      <vt:lpstr>SCAN (SELECT * vs skinny)</vt:lpstr>
      <vt:lpstr>JOIN que infla” (cardinalidad mal controlada)</vt:lpstr>
      <vt:lpstr>GROUP BY caro (entra demasiada data)</vt:lpstr>
      <vt:lpstr>Profiling (opcional): modo lupa</vt:lpstr>
      <vt:lpstr>Entregables y evidencia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	 Echeverri Arteaga</dc:creator>
  <cp:lastModifiedBy>Santiago	 Echeverri Arteaga</cp:lastModifiedBy>
  <cp:revision>4</cp:revision>
  <dcterms:created xsi:type="dcterms:W3CDTF">2026-01-03T22:59:07Z</dcterms:created>
  <dcterms:modified xsi:type="dcterms:W3CDTF">2026-01-11T02:52:45Z</dcterms:modified>
</cp:coreProperties>
</file>