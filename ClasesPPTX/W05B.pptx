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3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W03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W05A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0" dirty="0"/>
            <a:t>Diseño relacional mínimo (PK/FK + llaves)</a:t>
          </a:r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2520C895-A69C-4E1D-833E-CFCF8D045592}">
      <dgm:prSet/>
      <dgm:spPr/>
      <dgm:t>
        <a:bodyPr/>
        <a:lstStyle/>
        <a:p>
          <a:pPr>
            <a:defRPr b="1"/>
          </a:pPr>
          <a:r>
            <a:rPr lang="es-CO" dirty="0"/>
            <a:t>W05B</a:t>
          </a:r>
        </a:p>
      </dgm:t>
    </dgm:pt>
    <dgm:pt modelId="{94832D78-9833-41A4-81C5-EF626380929C}" type="parTrans" cxnId="{AF0605B5-6EC5-474B-AF1B-83308F626370}">
      <dgm:prSet/>
      <dgm:spPr/>
    </dgm:pt>
    <dgm:pt modelId="{CEAFE364-1135-476B-A766-6591619D08D7}" type="sibTrans" cxnId="{AF0605B5-6EC5-474B-AF1B-83308F626370}">
      <dgm:prSet/>
      <dgm:spPr/>
    </dgm:pt>
    <dgm:pt modelId="{730198F8-8277-4469-A2E6-D7B60D4E0025}">
      <dgm:prSet/>
      <dgm:spPr/>
      <dgm:t>
        <a:bodyPr/>
        <a:lstStyle/>
        <a:p>
          <a:r>
            <a:rPr lang="es-ES" b="1" dirty="0"/>
            <a:t>Gold + </a:t>
          </a:r>
          <a:r>
            <a:rPr lang="es-ES" b="1" dirty="0" err="1"/>
            <a:t>exports</a:t>
          </a:r>
          <a:r>
            <a:rPr lang="es-ES" b="1" dirty="0"/>
            <a:t> + documentación final</a:t>
          </a:r>
          <a:endParaRPr lang="es-CO" dirty="0"/>
        </a:p>
      </dgm:t>
    </dgm:pt>
    <dgm:pt modelId="{CFB92EED-D2A6-4767-B7AA-6133823B2886}" type="parTrans" cxnId="{A0200E12-295E-4F66-BED2-CEF30ADAA122}">
      <dgm:prSet/>
      <dgm:spPr/>
    </dgm:pt>
    <dgm:pt modelId="{523C5D6A-73AB-4D5D-B396-58B4DA401B5B}" type="sibTrans" cxnId="{A0200E12-295E-4F66-BED2-CEF30ADAA122}">
      <dgm:prSet/>
      <dgm:spPr/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2"/>
      <dgm:spPr/>
    </dgm:pt>
    <dgm:pt modelId="{3941855B-9F45-4A82-956B-02684A432AA5}" type="pres">
      <dgm:prSet presAssocID="{CF314EE2-D6D7-4536-A6FD-41DF85B6060B}" presName="Ellipse" presStyleLbl="fgAcc1" presStyleIdx="0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6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2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6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2"/>
      <dgm:spPr/>
    </dgm:pt>
    <dgm:pt modelId="{591D0C9E-F3BD-4ACE-A927-797BE3DA39DF}" type="pres">
      <dgm:prSet presAssocID="{DB0F8EA1-4EC9-4B36-B3A0-726A64C3981F}" presName="Ellipse" presStyleLbl="fgAcc1" presStyleIdx="1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6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2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6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4" presStyleCnt="12"/>
      <dgm:spPr/>
    </dgm:pt>
    <dgm:pt modelId="{64CCA8F3-173A-4D74-B9A2-49BDD6D8183A}" type="pres">
      <dgm:prSet presAssocID="{D50E325C-02F8-4636-83C7-06D5FCD3BA82}" presName="Ellipse" presStyleLbl="fgAcc1" presStyleIdx="2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2" presStyleCnt="6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5" presStyleCnt="12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2" presStyleCnt="6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6" presStyleCnt="12"/>
      <dgm:spPr/>
    </dgm:pt>
    <dgm:pt modelId="{A8F6EDE2-EF0C-457E-BC04-95B7917B5FF1}" type="pres">
      <dgm:prSet presAssocID="{16BBC706-20BB-4DAB-BE2E-AFABD3EB8DF4}" presName="Ellipse" presStyleLbl="fgAcc1" presStyleIdx="3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3" presStyleCnt="6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7" presStyleCnt="12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3" presStyleCnt="6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8" presStyleCnt="12"/>
      <dgm:spPr/>
    </dgm:pt>
    <dgm:pt modelId="{0E07606D-90D6-4C46-9C6F-D1FA7A46AD31}" type="pres">
      <dgm:prSet presAssocID="{D58E6C69-1D05-44C2-9491-5FDB663AAFB1}" presName="Ellipse" presStyleLbl="fgAcc1" presStyleIdx="4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4" presStyleCnt="6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9" presStyleCnt="12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4" presStyleCnt="6"/>
      <dgm:spPr/>
    </dgm:pt>
    <dgm:pt modelId="{7D6140CA-EF57-4603-ADAF-5E5FB81F7207}" type="pres">
      <dgm:prSet presAssocID="{D58E6C69-1D05-44C2-9491-5FDB663AAFB1}" presName="EmptyPlaceHolder" presStyleCnt="0"/>
      <dgm:spPr/>
    </dgm:pt>
    <dgm:pt modelId="{D2C454B8-04D6-4E6C-8355-673339559618}" type="pres">
      <dgm:prSet presAssocID="{7B85E398-94A7-4AB5-8CDF-7F81E2F539B1}" presName="spaceBetweenRectangles" presStyleCnt="0"/>
      <dgm:spPr/>
    </dgm:pt>
    <dgm:pt modelId="{5C62CD98-B098-4A3E-B2A4-EA65C368F917}" type="pres">
      <dgm:prSet presAssocID="{2520C895-A69C-4E1D-833E-CFCF8D045592}" presName="composite" presStyleCnt="0"/>
      <dgm:spPr/>
    </dgm:pt>
    <dgm:pt modelId="{5657EE69-424A-4CD8-B5EE-7DBEE83B0DC9}" type="pres">
      <dgm:prSet presAssocID="{2520C895-A69C-4E1D-833E-CFCF8D045592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D4F6ED0-44B8-4C59-99DC-C619DDB1D906}" type="pres">
      <dgm:prSet presAssocID="{2520C895-A69C-4E1D-833E-CFCF8D045592}" presName="DropPinPlaceHolder" presStyleCnt="0"/>
      <dgm:spPr/>
    </dgm:pt>
    <dgm:pt modelId="{72EA4842-5C5D-4BE9-9AD2-6FAF498B2540}" type="pres">
      <dgm:prSet presAssocID="{2520C895-A69C-4E1D-833E-CFCF8D045592}" presName="DropPin" presStyleLbl="alignNode1" presStyleIdx="10" presStyleCnt="12"/>
      <dgm:spPr/>
    </dgm:pt>
    <dgm:pt modelId="{703E798C-4E72-4A6C-AD2F-3EEC1D89A51B}" type="pres">
      <dgm:prSet presAssocID="{2520C895-A69C-4E1D-833E-CFCF8D045592}" presName="Ellipse" presStyleLbl="fgAcc1" presStyleIdx="5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7B4887C6-E1B4-4412-86BB-F455A05D8A46}" type="pres">
      <dgm:prSet presAssocID="{2520C895-A69C-4E1D-833E-CFCF8D045592}" presName="L2TextContainer" presStyleLbl="revTx" presStyleIdx="5" presStyleCnt="6">
        <dgm:presLayoutVars>
          <dgm:bulletEnabled val="1"/>
        </dgm:presLayoutVars>
      </dgm:prSet>
      <dgm:spPr/>
    </dgm:pt>
    <dgm:pt modelId="{415234FF-8B2B-48A0-B0A8-E0517D1909DD}" type="pres">
      <dgm:prSet presAssocID="{2520C895-A69C-4E1D-833E-CFCF8D045592}" presName="L1TextContainer" presStyleLbl="alignNode1" presStyleIdx="11" presStyleCnt="12">
        <dgm:presLayoutVars>
          <dgm:chMax val="1"/>
          <dgm:chPref val="1"/>
          <dgm:bulletEnabled val="1"/>
        </dgm:presLayoutVars>
      </dgm:prSet>
      <dgm:spPr/>
    </dgm:pt>
    <dgm:pt modelId="{573D2282-3279-4BF1-B7CA-BAB23F064BDC}" type="pres">
      <dgm:prSet presAssocID="{2520C895-A69C-4E1D-833E-CFCF8D045592}" presName="ConnectLine" presStyleLbl="sibTrans1D1" presStyleIdx="5" presStyleCnt="6"/>
      <dgm:spPr/>
    </dgm:pt>
    <dgm:pt modelId="{4E1E2890-8665-4899-9FC8-69300C2D910D}" type="pres">
      <dgm:prSet presAssocID="{2520C895-A69C-4E1D-833E-CFCF8D045592}" presName="EmptyPlaceHolder" presStyleCnt="0"/>
      <dgm:spPr/>
    </dgm:pt>
  </dgm:ptLst>
  <dgm:cxnLst>
    <dgm:cxn modelId="{D562AD03-6565-40F6-8AF1-6711B7C2F39E}" type="presOf" srcId="{D50E325C-02F8-4636-83C7-06D5FCD3BA82}" destId="{2664027A-B5AC-41CA-A071-5DF0CF1E8120}" srcOrd="0" destOrd="0" presId="urn:microsoft.com/office/officeart/2024/3/layout/SimpleTimelineDefaultVariant"/>
    <dgm:cxn modelId="{B46E2409-4F36-423D-80F6-5735CFFD98C3}" type="presOf" srcId="{CF314EE2-D6D7-4536-A6FD-41DF85B6060B}" destId="{01E41ACE-E33B-41B9-A714-73522D3F7C76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4" destOrd="0" parTransId="{5A34F788-8BB8-41E7-B4B9-5FA4F647078C}" sibTransId="{7B85E398-94A7-4AB5-8CDF-7F81E2F539B1}"/>
    <dgm:cxn modelId="{A0200E12-295E-4F66-BED2-CEF30ADAA122}" srcId="{2520C895-A69C-4E1D-833E-CFCF8D045592}" destId="{730198F8-8277-4469-A2E6-D7B60D4E0025}" srcOrd="0" destOrd="0" parTransId="{CFB92EED-D2A6-4767-B7AA-6133823B2886}" sibTransId="{523C5D6A-73AB-4D5D-B396-58B4DA401B5B}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98348C1F-A512-4A4D-A0C8-F973D574AB76}" type="presOf" srcId="{16BBC706-20BB-4DAB-BE2E-AFABD3EB8DF4}" destId="{EE41F65A-AA70-4EE3-81F3-A539EF20984B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AD053F3E-223F-47FA-BF3D-825CF9478A38}" type="presOf" srcId="{9F792233-6D2D-4F91-A8EB-9D8F22D4829D}" destId="{31877334-3A87-4D72-A1B1-F99AFF9D710D}" srcOrd="0" destOrd="0" presId="urn:microsoft.com/office/officeart/2024/3/layout/SimpleTimelineDefaultVariant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1CB01F46-DE10-431C-8EF4-C40D18F95DD7}" type="presOf" srcId="{925E6D1D-D87D-40EB-9615-95968B35A91B}" destId="{00D2B9ED-BE51-47B3-B26C-BA45F9641DBB}" srcOrd="0" destOrd="0" presId="urn:microsoft.com/office/officeart/2024/3/layout/SimpleTimelineDefaultVariant"/>
    <dgm:cxn modelId="{C3F4C46E-6D33-46B9-9250-E8CCB54C1832}" type="presOf" srcId="{DB0F8EA1-4EC9-4B36-B3A0-726A64C3981F}" destId="{89EF5014-7ECE-4300-A882-B69FFA73745D}" srcOrd="0" destOrd="0" presId="urn:microsoft.com/office/officeart/2024/3/layout/SimpleTimelineDefaultVariant"/>
    <dgm:cxn modelId="{E748A556-A192-4F02-BDCB-988F4CD2BF43}" type="presOf" srcId="{C9334617-D8FF-4772-940C-26C317DD1123}" destId="{229A8B9E-D26E-4B8B-B637-778F404FB5B5}" srcOrd="0" destOrd="0" presId="urn:microsoft.com/office/officeart/2024/3/layout/SimpleTimelineDefaultVariant"/>
    <dgm:cxn modelId="{5B03E37C-4FA6-4FE3-9CC9-C9BE34E43339}" srcId="{DB0F8EA1-4EC9-4B36-B3A0-726A64C3981F}" destId="{15D026C8-3FA6-448A-A3BC-AAA5CEA229FC}" srcOrd="0" destOrd="0" parTransId="{57134387-37E6-4073-B620-EB2BC76CDF46}" sibTransId="{E937AFED-88C7-4905-9A04-A9EE8FF53C44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C634F497-3328-45C5-A0A7-8982C079FFE5}" type="presOf" srcId="{15D026C8-3FA6-448A-A3BC-AAA5CEA229FC}" destId="{443870C5-2799-47B5-AA6B-A0C45107D3FC}" srcOrd="0" destOrd="0" presId="urn:microsoft.com/office/officeart/2024/3/layout/SimpleTimelineDefaultVariant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3" destOrd="0" parTransId="{FFC39569-AC40-4992-905B-F5979F552B76}" sibTransId="{2BE8C82F-3D4F-4067-BF75-088338C4E144}"/>
    <dgm:cxn modelId="{EC4DD3B4-3385-4214-BE01-3B0C3017D2DA}" type="presOf" srcId="{D58E6C69-1D05-44C2-9491-5FDB663AAFB1}" destId="{F7F215AA-1548-4946-9818-24CE434B0257}" srcOrd="0" destOrd="0" presId="urn:microsoft.com/office/officeart/2024/3/layout/SimpleTimelineDefaultVariant"/>
    <dgm:cxn modelId="{AF0605B5-6EC5-474B-AF1B-83308F626370}" srcId="{2430CC21-05DE-42C5-993E-E946140B4D86}" destId="{2520C895-A69C-4E1D-833E-CFCF8D045592}" srcOrd="5" destOrd="0" parTransId="{94832D78-9833-41A4-81C5-EF626380929C}" sibTransId="{CEAFE364-1135-476B-A766-6591619D08D7}"/>
    <dgm:cxn modelId="{23B99BBD-B967-4475-B841-59E3F53E0D76}" type="presOf" srcId="{C65E3B61-EBF5-4BE9-9C69-BC45396A57AD}" destId="{A8C61B89-04C1-40B8-A753-92BDABE39300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2" destOrd="0" parTransId="{B10AAB54-8404-4113-AEA9-476DC7B36F38}" sibTransId="{235F5447-7591-489B-8E03-171373207EFC}"/>
    <dgm:cxn modelId="{3371C5DF-209D-4137-970C-269B3B2AEF52}" type="presOf" srcId="{2520C895-A69C-4E1D-833E-CFCF8D045592}" destId="{415234FF-8B2B-48A0-B0A8-E0517D1909DD}" srcOrd="0" destOrd="0" presId="urn:microsoft.com/office/officeart/2024/3/layout/SimpleTimelineDefaultVariant"/>
    <dgm:cxn modelId="{96B42CEC-8A2B-40CE-B8F3-DB09FD0C87CD}" type="presOf" srcId="{730198F8-8277-4469-A2E6-D7B60D4E0025}" destId="{7B4887C6-E1B4-4412-86BB-F455A05D8A46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9E74B8B3-3E47-41DA-AFBE-037CF1A1F7E0}" type="presParOf" srcId="{9AE89FB1-F474-491F-AB27-A0F134775DF5}" destId="{B7BF8D1E-0607-4B5F-981C-154E326D1064}" srcOrd="0" destOrd="0" presId="urn:microsoft.com/office/officeart/2024/3/layout/SimpleTimelineDefaultVariant"/>
    <dgm:cxn modelId="{E5D4830D-9283-4B4A-B153-3AD0EC92935D}" type="presParOf" srcId="{9AE89FB1-F474-491F-AB27-A0F134775DF5}" destId="{A7AE47DD-8DEC-4B56-9367-A4C3486B2D96}" srcOrd="1" destOrd="0" presId="urn:microsoft.com/office/officeart/2024/3/layout/SimpleTimelineDefaultVariant"/>
    <dgm:cxn modelId="{92A60B34-44B5-4241-A246-9B8AE9EEC888}" type="presParOf" srcId="{A7AE47DD-8DEC-4B56-9367-A4C3486B2D96}" destId="{53FB245B-549F-41A8-85A7-8DC9298ABFD7}" srcOrd="0" destOrd="0" presId="urn:microsoft.com/office/officeart/2024/3/layout/SimpleTimelineDefaultVariant"/>
    <dgm:cxn modelId="{AE077938-6A5A-4F92-A7E5-E945C149E525}" type="presParOf" srcId="{53FB245B-549F-41A8-85A7-8DC9298ABFD7}" destId="{34DD218C-FBA4-4914-8E86-E286CBBF679B}" srcOrd="0" destOrd="0" presId="urn:microsoft.com/office/officeart/2024/3/layout/SimpleTimelineDefaultVariant"/>
    <dgm:cxn modelId="{92746E15-DB21-4789-83B4-6A88C3E6B7F0}" type="presParOf" srcId="{53FB245B-549F-41A8-85A7-8DC9298ABFD7}" destId="{D7F5E375-D0CA-42FC-835A-31381C5E5D37}" srcOrd="1" destOrd="0" presId="urn:microsoft.com/office/officeart/2024/3/layout/SimpleTimelineDefaultVariant"/>
    <dgm:cxn modelId="{848C9B4D-DFD7-4811-89F5-7AAEC7EC892B}" type="presParOf" srcId="{D7F5E375-D0CA-42FC-835A-31381C5E5D37}" destId="{90BFAD0B-06DA-4B4F-B83D-5C02B8A89EC4}" srcOrd="0" destOrd="0" presId="urn:microsoft.com/office/officeart/2024/3/layout/SimpleTimelineDefaultVariant"/>
    <dgm:cxn modelId="{0EEAA99C-1CFA-4657-91DD-855054B11F6F}" type="presParOf" srcId="{D7F5E375-D0CA-42FC-835A-31381C5E5D37}" destId="{3941855B-9F45-4A82-956B-02684A432AA5}" srcOrd="1" destOrd="0" presId="urn:microsoft.com/office/officeart/2024/3/layout/SimpleTimelineDefaultVariant"/>
    <dgm:cxn modelId="{EF37EFBC-6C3F-447B-A61C-84F54894FA2D}" type="presParOf" srcId="{53FB245B-549F-41A8-85A7-8DC9298ABFD7}" destId="{31877334-3A87-4D72-A1B1-F99AFF9D710D}" srcOrd="2" destOrd="0" presId="urn:microsoft.com/office/officeart/2024/3/layout/SimpleTimelineDefaultVariant"/>
    <dgm:cxn modelId="{BDE6DD21-6621-4E0E-8697-34D535955A74}" type="presParOf" srcId="{53FB245B-549F-41A8-85A7-8DC9298ABFD7}" destId="{01E41ACE-E33B-41B9-A714-73522D3F7C76}" srcOrd="3" destOrd="0" presId="urn:microsoft.com/office/officeart/2024/3/layout/SimpleTimelineDefaultVariant"/>
    <dgm:cxn modelId="{3E0A0140-AC71-4DE2-A53D-B45BE5077CC6}" type="presParOf" srcId="{53FB245B-549F-41A8-85A7-8DC9298ABFD7}" destId="{CEE8CE24-AD73-4777-BAB3-4A5D9CE74308}" srcOrd="4" destOrd="0" presId="urn:microsoft.com/office/officeart/2024/3/layout/SimpleTimelineDefaultVariant"/>
    <dgm:cxn modelId="{2636BBA0-AD18-49CB-B8F2-0785A89834A3}" type="presParOf" srcId="{53FB245B-549F-41A8-85A7-8DC9298ABFD7}" destId="{CA0DAB95-CF81-4C72-99EC-F6A08D694850}" srcOrd="5" destOrd="0" presId="urn:microsoft.com/office/officeart/2024/3/layout/SimpleTimelineDefaultVariant"/>
    <dgm:cxn modelId="{0F157F03-CAB3-4737-AA26-56463C32AFA9}" type="presParOf" srcId="{A7AE47DD-8DEC-4B56-9367-A4C3486B2D96}" destId="{5B1444F8-B111-4850-AE5F-D928CB18CD7B}" srcOrd="1" destOrd="0" presId="urn:microsoft.com/office/officeart/2024/3/layout/SimpleTimelineDefaultVariant"/>
    <dgm:cxn modelId="{1A6C122C-F285-40EE-B923-50F57B59A95A}" type="presParOf" srcId="{A7AE47DD-8DEC-4B56-9367-A4C3486B2D96}" destId="{3E821FC4-A874-450B-8482-9337AC1C1E0B}" srcOrd="2" destOrd="0" presId="urn:microsoft.com/office/officeart/2024/3/layout/SimpleTimelineDefaultVariant"/>
    <dgm:cxn modelId="{4E92F351-1859-4ECE-8F9D-0C243F36F33B}" type="presParOf" srcId="{3E821FC4-A874-450B-8482-9337AC1C1E0B}" destId="{0D3203CA-3A44-4E67-9918-35447FA83302}" srcOrd="0" destOrd="0" presId="urn:microsoft.com/office/officeart/2024/3/layout/SimpleTimelineDefaultVariant"/>
    <dgm:cxn modelId="{F4AED0DC-5834-4433-B25A-3CEA321B20EF}" type="presParOf" srcId="{3E821FC4-A874-450B-8482-9337AC1C1E0B}" destId="{167C0091-4211-46CD-8319-88B0084C9D44}" srcOrd="1" destOrd="0" presId="urn:microsoft.com/office/officeart/2024/3/layout/SimpleTimelineDefaultVariant"/>
    <dgm:cxn modelId="{720EF8D9-14D6-4B51-A2CC-DDA51E9C880A}" type="presParOf" srcId="{167C0091-4211-46CD-8319-88B0084C9D44}" destId="{DC0398C9-F266-4E41-85EE-CAB679514169}" srcOrd="0" destOrd="0" presId="urn:microsoft.com/office/officeart/2024/3/layout/SimpleTimelineDefaultVariant"/>
    <dgm:cxn modelId="{16387726-280B-44BC-AF61-2598E31649D6}" type="presParOf" srcId="{167C0091-4211-46CD-8319-88B0084C9D44}" destId="{591D0C9E-F3BD-4ACE-A927-797BE3DA39DF}" srcOrd="1" destOrd="0" presId="urn:microsoft.com/office/officeart/2024/3/layout/SimpleTimelineDefaultVariant"/>
    <dgm:cxn modelId="{9695F868-D0DE-49F8-AC05-DD8F526209A0}" type="presParOf" srcId="{3E821FC4-A874-450B-8482-9337AC1C1E0B}" destId="{443870C5-2799-47B5-AA6B-A0C45107D3FC}" srcOrd="2" destOrd="0" presId="urn:microsoft.com/office/officeart/2024/3/layout/SimpleTimelineDefaultVariant"/>
    <dgm:cxn modelId="{9F0B5021-2B2F-469A-8B6A-75EE0E3219EE}" type="presParOf" srcId="{3E821FC4-A874-450B-8482-9337AC1C1E0B}" destId="{89EF5014-7ECE-4300-A882-B69FFA73745D}" srcOrd="3" destOrd="0" presId="urn:microsoft.com/office/officeart/2024/3/layout/SimpleTimelineDefaultVariant"/>
    <dgm:cxn modelId="{F439FE2E-FF8E-4CD8-BFFD-BE7EEFAF2CD9}" type="presParOf" srcId="{3E821FC4-A874-450B-8482-9337AC1C1E0B}" destId="{7FC7980B-78D1-4A8D-9208-76052E50D81B}" srcOrd="4" destOrd="0" presId="urn:microsoft.com/office/officeart/2024/3/layout/SimpleTimelineDefaultVariant"/>
    <dgm:cxn modelId="{C839B3D7-FA36-4368-95FA-7BE550EAD3EA}" type="presParOf" srcId="{3E821FC4-A874-450B-8482-9337AC1C1E0B}" destId="{2A9B783C-D24D-49E5-BA81-DDD844BCDDD5}" srcOrd="5" destOrd="0" presId="urn:microsoft.com/office/officeart/2024/3/layout/SimpleTimelineDefaultVariant"/>
    <dgm:cxn modelId="{7F3E5275-025F-467F-BC59-8850C540B5E7}" type="presParOf" srcId="{A7AE47DD-8DEC-4B56-9367-A4C3486B2D96}" destId="{0C971922-0DF1-44AF-961F-8011F77D6504}" srcOrd="3" destOrd="0" presId="urn:microsoft.com/office/officeart/2024/3/layout/SimpleTimelineDefaultVariant"/>
    <dgm:cxn modelId="{F52E542C-BF1E-473A-9FE6-C8332DF61796}" type="presParOf" srcId="{A7AE47DD-8DEC-4B56-9367-A4C3486B2D96}" destId="{538F7CB4-9A53-484B-81CA-260A79B4F163}" srcOrd="4" destOrd="0" presId="urn:microsoft.com/office/officeart/2024/3/layout/SimpleTimelineDefaultVariant"/>
    <dgm:cxn modelId="{1F92719C-70F5-4AEC-8718-EC9D23EE000E}" type="presParOf" srcId="{538F7CB4-9A53-484B-81CA-260A79B4F163}" destId="{682EA88A-A4E4-4AA7-9FB1-B83F193F2C39}" srcOrd="0" destOrd="0" presId="urn:microsoft.com/office/officeart/2024/3/layout/SimpleTimelineDefaultVariant"/>
    <dgm:cxn modelId="{E8394B0F-FABF-4A66-8272-D704779E3955}" type="presParOf" srcId="{538F7CB4-9A53-484B-81CA-260A79B4F163}" destId="{A0323C5B-5787-4ABC-9130-A621889E8E36}" srcOrd="1" destOrd="0" presId="urn:microsoft.com/office/officeart/2024/3/layout/SimpleTimelineDefaultVariant"/>
    <dgm:cxn modelId="{DFA795C5-1BE5-406A-A5C1-46CAF842C65B}" type="presParOf" srcId="{A0323C5B-5787-4ABC-9130-A621889E8E36}" destId="{4E9D8699-570F-428F-B34E-A8AE18B2A17F}" srcOrd="0" destOrd="0" presId="urn:microsoft.com/office/officeart/2024/3/layout/SimpleTimelineDefaultVariant"/>
    <dgm:cxn modelId="{FE2CFF8C-3786-4B89-814B-8805E47100B5}" type="presParOf" srcId="{A0323C5B-5787-4ABC-9130-A621889E8E36}" destId="{64CCA8F3-173A-4D74-B9A2-49BDD6D8183A}" srcOrd="1" destOrd="0" presId="urn:microsoft.com/office/officeart/2024/3/layout/SimpleTimelineDefaultVariant"/>
    <dgm:cxn modelId="{F1D6E3F3-896B-46D2-B758-C1A023A8727A}" type="presParOf" srcId="{538F7CB4-9A53-484B-81CA-260A79B4F163}" destId="{00D2B9ED-BE51-47B3-B26C-BA45F9641DBB}" srcOrd="2" destOrd="0" presId="urn:microsoft.com/office/officeart/2024/3/layout/SimpleTimelineDefaultVariant"/>
    <dgm:cxn modelId="{61DAC549-64C1-4BC2-9902-2B8E9260B715}" type="presParOf" srcId="{538F7CB4-9A53-484B-81CA-260A79B4F163}" destId="{2664027A-B5AC-41CA-A071-5DF0CF1E8120}" srcOrd="3" destOrd="0" presId="urn:microsoft.com/office/officeart/2024/3/layout/SimpleTimelineDefaultVariant"/>
    <dgm:cxn modelId="{73227FF1-FD14-40DA-8F97-EEA5063C7146}" type="presParOf" srcId="{538F7CB4-9A53-484B-81CA-260A79B4F163}" destId="{6F004247-9FD8-4E6D-9363-DE121E4356A0}" srcOrd="4" destOrd="0" presId="urn:microsoft.com/office/officeart/2024/3/layout/SimpleTimelineDefaultVariant"/>
    <dgm:cxn modelId="{EA102EE5-CCAC-40F9-96C2-29BC90C93428}" type="presParOf" srcId="{538F7CB4-9A53-484B-81CA-260A79B4F163}" destId="{5A9AD2D3-337B-4134-B8ED-771B806C587F}" srcOrd="5" destOrd="0" presId="urn:microsoft.com/office/officeart/2024/3/layout/SimpleTimelineDefaultVariant"/>
    <dgm:cxn modelId="{F75201D6-B601-4E44-8F3B-9539929B0435}" type="presParOf" srcId="{A7AE47DD-8DEC-4B56-9367-A4C3486B2D96}" destId="{A7600265-0C88-4CF8-BE9B-117522065D4D}" srcOrd="5" destOrd="0" presId="urn:microsoft.com/office/officeart/2024/3/layout/SimpleTimelineDefaultVariant"/>
    <dgm:cxn modelId="{90999DAB-BF74-4FE6-9CD5-AA7785A6FF9F}" type="presParOf" srcId="{A7AE47DD-8DEC-4B56-9367-A4C3486B2D96}" destId="{2B5389DC-7DD6-4BC8-B779-D6F9230E7016}" srcOrd="6" destOrd="0" presId="urn:microsoft.com/office/officeart/2024/3/layout/SimpleTimelineDefaultVariant"/>
    <dgm:cxn modelId="{53F6AF98-7C4A-4249-B349-F80D121553AD}" type="presParOf" srcId="{2B5389DC-7DD6-4BC8-B779-D6F9230E7016}" destId="{410FA866-99AD-47B6-AB30-6629B2F7603F}" srcOrd="0" destOrd="0" presId="urn:microsoft.com/office/officeart/2024/3/layout/SimpleTimelineDefaultVariant"/>
    <dgm:cxn modelId="{31D25238-6D5A-45F5-A02F-6492772BEE25}" type="presParOf" srcId="{2B5389DC-7DD6-4BC8-B779-D6F9230E7016}" destId="{62656441-CCB5-4F11-87D3-A71692F13D3F}" srcOrd="1" destOrd="0" presId="urn:microsoft.com/office/officeart/2024/3/layout/SimpleTimelineDefaultVariant"/>
    <dgm:cxn modelId="{A383E53A-6C18-4FC5-93B8-B3B396CCA704}" type="presParOf" srcId="{62656441-CCB5-4F11-87D3-A71692F13D3F}" destId="{1D54DDC9-D893-4C2D-937E-BD8391046565}" srcOrd="0" destOrd="0" presId="urn:microsoft.com/office/officeart/2024/3/layout/SimpleTimelineDefaultVariant"/>
    <dgm:cxn modelId="{8088A9DF-5D2E-4158-B8EA-505CB0A079F6}" type="presParOf" srcId="{62656441-CCB5-4F11-87D3-A71692F13D3F}" destId="{A8F6EDE2-EF0C-457E-BC04-95B7917B5FF1}" srcOrd="1" destOrd="0" presId="urn:microsoft.com/office/officeart/2024/3/layout/SimpleTimelineDefaultVariant"/>
    <dgm:cxn modelId="{C2E14D34-7E69-4FED-BA1D-7A3D731D5004}" type="presParOf" srcId="{2B5389DC-7DD6-4BC8-B779-D6F9230E7016}" destId="{229A8B9E-D26E-4B8B-B637-778F404FB5B5}" srcOrd="2" destOrd="0" presId="urn:microsoft.com/office/officeart/2024/3/layout/SimpleTimelineDefaultVariant"/>
    <dgm:cxn modelId="{4B563E69-E6B7-44DF-A91C-9683B271AADA}" type="presParOf" srcId="{2B5389DC-7DD6-4BC8-B779-D6F9230E7016}" destId="{EE41F65A-AA70-4EE3-81F3-A539EF20984B}" srcOrd="3" destOrd="0" presId="urn:microsoft.com/office/officeart/2024/3/layout/SimpleTimelineDefaultVariant"/>
    <dgm:cxn modelId="{F21209F1-47CD-4F2A-A61A-773227F00F17}" type="presParOf" srcId="{2B5389DC-7DD6-4BC8-B779-D6F9230E7016}" destId="{E28909AF-007C-49D7-8958-97FF1699473D}" srcOrd="4" destOrd="0" presId="urn:microsoft.com/office/officeart/2024/3/layout/SimpleTimelineDefaultVariant"/>
    <dgm:cxn modelId="{B9C8F822-0E04-4EAE-BF1E-67E4F8F1D7CB}" type="presParOf" srcId="{2B5389DC-7DD6-4BC8-B779-D6F9230E7016}" destId="{6C0C9696-FE62-48F7-8988-6F70C68CBD83}" srcOrd="5" destOrd="0" presId="urn:microsoft.com/office/officeart/2024/3/layout/SimpleTimelineDefaultVariant"/>
    <dgm:cxn modelId="{39E4C226-FDB8-4946-AD37-706DC60951D5}" type="presParOf" srcId="{A7AE47DD-8DEC-4B56-9367-A4C3486B2D96}" destId="{F46B52D1-BAB5-4C3E-A7AE-5109068EFB92}" srcOrd="7" destOrd="0" presId="urn:microsoft.com/office/officeart/2024/3/layout/SimpleTimelineDefaultVariant"/>
    <dgm:cxn modelId="{9AD2EFDC-8C4B-45D9-9A46-40E77F649B3A}" type="presParOf" srcId="{A7AE47DD-8DEC-4B56-9367-A4C3486B2D96}" destId="{A74FF97E-7200-4943-9A5B-13D208BDD317}" srcOrd="8" destOrd="0" presId="urn:microsoft.com/office/officeart/2024/3/layout/SimpleTimelineDefaultVariant"/>
    <dgm:cxn modelId="{439779B9-A317-480D-9DB2-CB4ABB91B42C}" type="presParOf" srcId="{A74FF97E-7200-4943-9A5B-13D208BDD317}" destId="{D1F0411E-85F0-49A3-90A8-C760162A06F7}" srcOrd="0" destOrd="0" presId="urn:microsoft.com/office/officeart/2024/3/layout/SimpleTimelineDefaultVariant"/>
    <dgm:cxn modelId="{B0BB82D9-2307-4902-BB4D-3E93EA6A9BDF}" type="presParOf" srcId="{A74FF97E-7200-4943-9A5B-13D208BDD317}" destId="{F77DF66D-9675-47A7-ADD4-F35123143610}" srcOrd="1" destOrd="0" presId="urn:microsoft.com/office/officeart/2024/3/layout/SimpleTimelineDefaultVariant"/>
    <dgm:cxn modelId="{57348B6C-83DF-475D-A249-9CF1383B42A9}" type="presParOf" srcId="{F77DF66D-9675-47A7-ADD4-F35123143610}" destId="{061DA4A7-7DD3-47A6-8F75-591FD3C5F66E}" srcOrd="0" destOrd="0" presId="urn:microsoft.com/office/officeart/2024/3/layout/SimpleTimelineDefaultVariant"/>
    <dgm:cxn modelId="{C1E1FC12-A671-4C28-9E5F-27AA0E271B14}" type="presParOf" srcId="{F77DF66D-9675-47A7-ADD4-F35123143610}" destId="{0E07606D-90D6-4C46-9C6F-D1FA7A46AD31}" srcOrd="1" destOrd="0" presId="urn:microsoft.com/office/officeart/2024/3/layout/SimpleTimelineDefaultVariant"/>
    <dgm:cxn modelId="{DD7C55D0-3FD6-49C7-B0D1-286FAFA9972E}" type="presParOf" srcId="{A74FF97E-7200-4943-9A5B-13D208BDD317}" destId="{A8C61B89-04C1-40B8-A753-92BDABE39300}" srcOrd="2" destOrd="0" presId="urn:microsoft.com/office/officeart/2024/3/layout/SimpleTimelineDefaultVariant"/>
    <dgm:cxn modelId="{026D7794-4944-4905-A0CD-B835C658C491}" type="presParOf" srcId="{A74FF97E-7200-4943-9A5B-13D208BDD317}" destId="{F7F215AA-1548-4946-9818-24CE434B0257}" srcOrd="3" destOrd="0" presId="urn:microsoft.com/office/officeart/2024/3/layout/SimpleTimelineDefaultVariant"/>
    <dgm:cxn modelId="{041D6367-4C51-4602-8F6C-B1995E75FE21}" type="presParOf" srcId="{A74FF97E-7200-4943-9A5B-13D208BDD317}" destId="{A657FCB3-50B0-4F61-A00C-56D9B387AFBF}" srcOrd="4" destOrd="0" presId="urn:microsoft.com/office/officeart/2024/3/layout/SimpleTimelineDefaultVariant"/>
    <dgm:cxn modelId="{B4CFE80C-7B2C-4F56-94A5-746687959957}" type="presParOf" srcId="{A74FF97E-7200-4943-9A5B-13D208BDD317}" destId="{7D6140CA-EF57-4603-ADAF-5E5FB81F7207}" srcOrd="5" destOrd="0" presId="urn:microsoft.com/office/officeart/2024/3/layout/SimpleTimelineDefaultVariant"/>
    <dgm:cxn modelId="{D304F211-7B3B-4547-B60C-D5F7207D550F}" type="presParOf" srcId="{A7AE47DD-8DEC-4B56-9367-A4C3486B2D96}" destId="{D2C454B8-04D6-4E6C-8355-673339559618}" srcOrd="9" destOrd="0" presId="urn:microsoft.com/office/officeart/2024/3/layout/SimpleTimelineDefaultVariant"/>
    <dgm:cxn modelId="{E3D403C9-48FB-4573-8BCA-E6E3D60A524D}" type="presParOf" srcId="{A7AE47DD-8DEC-4B56-9367-A4C3486B2D96}" destId="{5C62CD98-B098-4A3E-B2A4-EA65C368F917}" srcOrd="10" destOrd="0" presId="urn:microsoft.com/office/officeart/2024/3/layout/SimpleTimelineDefaultVariant"/>
    <dgm:cxn modelId="{5DB048C4-F9C1-4243-A3CA-6DD6F69F5196}" type="presParOf" srcId="{5C62CD98-B098-4A3E-B2A4-EA65C368F917}" destId="{5657EE69-424A-4CD8-B5EE-7DBEE83B0DC9}" srcOrd="0" destOrd="0" presId="urn:microsoft.com/office/officeart/2024/3/layout/SimpleTimelineDefaultVariant"/>
    <dgm:cxn modelId="{730762BA-9A35-4248-BFA0-C802F64B96DE}" type="presParOf" srcId="{5C62CD98-B098-4A3E-B2A4-EA65C368F917}" destId="{8D4F6ED0-44B8-4C59-99DC-C619DDB1D906}" srcOrd="1" destOrd="0" presId="urn:microsoft.com/office/officeart/2024/3/layout/SimpleTimelineDefaultVariant"/>
    <dgm:cxn modelId="{0D0FDA4E-ED0F-4FBD-BEE7-3381811E686F}" type="presParOf" srcId="{8D4F6ED0-44B8-4C59-99DC-C619DDB1D906}" destId="{72EA4842-5C5D-4BE9-9AD2-6FAF498B2540}" srcOrd="0" destOrd="0" presId="urn:microsoft.com/office/officeart/2024/3/layout/SimpleTimelineDefaultVariant"/>
    <dgm:cxn modelId="{23DCA478-FDAB-4935-A0D6-BB0C9BBDA4EF}" type="presParOf" srcId="{8D4F6ED0-44B8-4C59-99DC-C619DDB1D906}" destId="{703E798C-4E72-4A6C-AD2F-3EEC1D89A51B}" srcOrd="1" destOrd="0" presId="urn:microsoft.com/office/officeart/2024/3/layout/SimpleTimelineDefaultVariant"/>
    <dgm:cxn modelId="{2C25DD2F-D297-4C2A-8575-83947E0839CA}" type="presParOf" srcId="{5C62CD98-B098-4A3E-B2A4-EA65C368F917}" destId="{7B4887C6-E1B4-4412-86BB-F455A05D8A46}" srcOrd="2" destOrd="0" presId="urn:microsoft.com/office/officeart/2024/3/layout/SimpleTimelineDefaultVariant"/>
    <dgm:cxn modelId="{F129AD50-DB14-4D3B-8987-E74751FE1AD0}" type="presParOf" srcId="{5C62CD98-B098-4A3E-B2A4-EA65C368F917}" destId="{415234FF-8B2B-48A0-B0A8-E0517D1909DD}" srcOrd="3" destOrd="0" presId="urn:microsoft.com/office/officeart/2024/3/layout/SimpleTimelineDefaultVariant"/>
    <dgm:cxn modelId="{7B5BC618-0C54-4A22-975B-B75C87795475}" type="presParOf" srcId="{5C62CD98-B098-4A3E-B2A4-EA65C368F917}" destId="{573D2282-3279-4BF1-B7CA-BAB23F064BDC}" srcOrd="4" destOrd="0" presId="urn:microsoft.com/office/officeart/2024/3/layout/SimpleTimelineDefaultVariant"/>
    <dgm:cxn modelId="{E613A87E-9E64-4727-871E-8AA26DD02402}" type="presParOf" srcId="{5C62CD98-B098-4A3E-B2A4-EA65C368F917}" destId="{4E1E2890-8665-4899-9FC8-69300C2D910D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30609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30609" y="829551"/>
        <a:ext cx="2455555" cy="1203663"/>
      </dsp:txXfrm>
    </dsp:sp>
    <dsp:sp modelId="{01E41ACE-E33B-41B9-A714-73522D3F7C76}">
      <dsp:nvSpPr>
        <dsp:cNvPr id="0" name=""/>
        <dsp:cNvSpPr/>
      </dsp:nvSpPr>
      <dsp:spPr>
        <a:xfrm>
          <a:off x="430609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30609" y="406643"/>
        <a:ext cx="2455555" cy="422908"/>
      </dsp:txXfrm>
    </dsp:sp>
    <dsp:sp modelId="{CEE8CE24-AD73-4777-BAB3-4A5D9CE74308}">
      <dsp:nvSpPr>
        <dsp:cNvPr id="0" name=""/>
        <dsp:cNvSpPr/>
      </dsp:nvSpPr>
      <dsp:spPr>
        <a:xfrm>
          <a:off x="219155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7052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1902899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1902899" y="3009158"/>
        <a:ext cx="2455555" cy="650628"/>
      </dsp:txXfrm>
    </dsp:sp>
    <dsp:sp modelId="{89EF5014-7ECE-4300-A882-B69FFA73745D}">
      <dsp:nvSpPr>
        <dsp:cNvPr id="0" name=""/>
        <dsp:cNvSpPr/>
      </dsp:nvSpPr>
      <dsp:spPr>
        <a:xfrm>
          <a:off x="1902899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1902899" y="2602515"/>
        <a:ext cx="2455555" cy="406643"/>
      </dsp:txXfrm>
    </dsp:sp>
    <dsp:sp modelId="{7FC7980B-78D1-4A8D-9208-76052E50D81B}">
      <dsp:nvSpPr>
        <dsp:cNvPr id="0" name=""/>
        <dsp:cNvSpPr/>
      </dsp:nvSpPr>
      <dsp:spPr>
        <a:xfrm>
          <a:off x="1691444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642810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3375188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3375188" y="829551"/>
        <a:ext cx="2455555" cy="1203663"/>
      </dsp:txXfrm>
    </dsp:sp>
    <dsp:sp modelId="{2664027A-B5AC-41CA-A071-5DF0CF1E8120}">
      <dsp:nvSpPr>
        <dsp:cNvPr id="0" name=""/>
        <dsp:cNvSpPr/>
      </dsp:nvSpPr>
      <dsp:spPr>
        <a:xfrm>
          <a:off x="3375188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</a:t>
          </a:r>
        </a:p>
      </dsp:txBody>
      <dsp:txXfrm>
        <a:off x="3375188" y="406643"/>
        <a:ext cx="2455555" cy="422908"/>
      </dsp:txXfrm>
    </dsp:sp>
    <dsp:sp modelId="{6F004247-9FD8-4E6D-9363-DE121E4356A0}">
      <dsp:nvSpPr>
        <dsp:cNvPr id="0" name=""/>
        <dsp:cNvSpPr/>
      </dsp:nvSpPr>
      <dsp:spPr>
        <a:xfrm>
          <a:off x="316373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311509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4847478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4847478" y="3009158"/>
        <a:ext cx="2455555" cy="650628"/>
      </dsp:txXfrm>
    </dsp:sp>
    <dsp:sp modelId="{EE41F65A-AA70-4EE3-81F3-A539EF20984B}">
      <dsp:nvSpPr>
        <dsp:cNvPr id="0" name=""/>
        <dsp:cNvSpPr/>
      </dsp:nvSpPr>
      <dsp:spPr>
        <a:xfrm>
          <a:off x="4847478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4847478" y="2602515"/>
        <a:ext cx="2455555" cy="406643"/>
      </dsp:txXfrm>
    </dsp:sp>
    <dsp:sp modelId="{E28909AF-007C-49D7-8958-97FF1699473D}">
      <dsp:nvSpPr>
        <dsp:cNvPr id="0" name=""/>
        <dsp:cNvSpPr/>
      </dsp:nvSpPr>
      <dsp:spPr>
        <a:xfrm>
          <a:off x="4636023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458738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6319767" y="829551"/>
          <a:ext cx="2455555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0" kern="1200" dirty="0"/>
            <a:t>Diseño relacional mínimo (PK/FK + llaves)</a:t>
          </a:r>
        </a:p>
      </dsp:txBody>
      <dsp:txXfrm>
        <a:off x="6319767" y="829551"/>
        <a:ext cx="2455555" cy="1203663"/>
      </dsp:txXfrm>
    </dsp:sp>
    <dsp:sp modelId="{F7F215AA-1548-4946-9818-24CE434B0257}">
      <dsp:nvSpPr>
        <dsp:cNvPr id="0" name=""/>
        <dsp:cNvSpPr/>
      </dsp:nvSpPr>
      <dsp:spPr>
        <a:xfrm>
          <a:off x="6319767" y="406643"/>
          <a:ext cx="2455555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W05A</a:t>
          </a:r>
        </a:p>
      </dsp:txBody>
      <dsp:txXfrm>
        <a:off x="6319767" y="406643"/>
        <a:ext cx="2455555" cy="422908"/>
      </dsp:txXfrm>
    </dsp:sp>
    <dsp:sp modelId="{A657FCB3-50B0-4F61-A00C-56D9B387AFBF}">
      <dsp:nvSpPr>
        <dsp:cNvPr id="0" name=""/>
        <dsp:cNvSpPr/>
      </dsp:nvSpPr>
      <dsp:spPr>
        <a:xfrm>
          <a:off x="6108313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605967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887C6-E1B4-4412-86BB-F455A05D8A46}">
      <dsp:nvSpPr>
        <dsp:cNvPr id="0" name=""/>
        <dsp:cNvSpPr/>
      </dsp:nvSpPr>
      <dsp:spPr>
        <a:xfrm>
          <a:off x="7792057" y="3009158"/>
          <a:ext cx="2455555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Gold + </a:t>
          </a:r>
          <a:r>
            <a:rPr lang="es-ES" sz="1500" b="1" kern="1200" dirty="0" err="1"/>
            <a:t>exports</a:t>
          </a:r>
          <a:r>
            <a:rPr lang="es-ES" sz="1500" b="1" kern="1200" dirty="0"/>
            <a:t> + documentación final</a:t>
          </a:r>
          <a:endParaRPr lang="es-CO" sz="1500" kern="1200" dirty="0"/>
        </a:p>
      </dsp:txBody>
      <dsp:txXfrm>
        <a:off x="7792057" y="3009158"/>
        <a:ext cx="2455555" cy="650628"/>
      </dsp:txXfrm>
    </dsp:sp>
    <dsp:sp modelId="{415234FF-8B2B-48A0-B0A8-E0517D1909DD}">
      <dsp:nvSpPr>
        <dsp:cNvPr id="0" name=""/>
        <dsp:cNvSpPr/>
      </dsp:nvSpPr>
      <dsp:spPr>
        <a:xfrm>
          <a:off x="7792057" y="2602515"/>
          <a:ext cx="2455555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W05B</a:t>
          </a:r>
        </a:p>
      </dsp:txBody>
      <dsp:txXfrm>
        <a:off x="7792057" y="2602515"/>
        <a:ext cx="2455555" cy="406643"/>
      </dsp:txXfrm>
    </dsp:sp>
    <dsp:sp modelId="{573D2282-3279-4BF1-B7CA-BAB23F064BDC}">
      <dsp:nvSpPr>
        <dsp:cNvPr id="0" name=""/>
        <dsp:cNvSpPr/>
      </dsp:nvSpPr>
      <dsp:spPr>
        <a:xfrm>
          <a:off x="7580602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7EE69-424A-4CD8-B5EE-7DBEE83B0DC9}">
      <dsp:nvSpPr>
        <dsp:cNvPr id="0" name=""/>
        <dsp:cNvSpPr/>
      </dsp:nvSpPr>
      <dsp:spPr>
        <a:xfrm>
          <a:off x="7531968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3CA20-00E4-4CAA-9844-AC15227571C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81B88-0593-469F-905D-90A3EE7DF0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596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Ya tenemos el modelo sólido; ahora generamos salidas que alguien sí puede usar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5371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“Gold no es ‘más limpio’: es </a:t>
            </a:r>
            <a:r>
              <a:rPr lang="es-ES" b="1" dirty="0"/>
              <a:t>más útil</a:t>
            </a:r>
            <a:r>
              <a:rPr lang="es-ES" dirty="0"/>
              <a:t> para responder preguntas.”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6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“Esta salida permite ver rápidamente tendencias y predominancia de métodos.”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70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Gold siempre es agrupar una dimensión y sacar métricas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279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“Este Gold junta </a:t>
            </a:r>
            <a:r>
              <a:rPr lang="es-CO" dirty="0" err="1"/>
              <a:t>fact+dim</a:t>
            </a:r>
            <a:r>
              <a:rPr lang="es-CO" dirty="0"/>
              <a:t>: responde preguntas por entidad física (estrella).”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902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El </a:t>
            </a:r>
            <a:r>
              <a:rPr lang="es-CO" dirty="0" err="1"/>
              <a:t>Join</a:t>
            </a:r>
            <a:r>
              <a:rPr lang="es-CO" dirty="0"/>
              <a:t> no explota porque está protegido por SK + FK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075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“Gold sin </a:t>
            </a:r>
            <a:r>
              <a:rPr lang="es-CO" dirty="0" err="1"/>
              <a:t>export</a:t>
            </a:r>
            <a:r>
              <a:rPr lang="es-CO" dirty="0"/>
              <a:t> no es entregable: aquí queda el producto fuera del notebook.”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28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lo que te da confianza para firmar que el pipeline es correcto.</a:t>
            </a:r>
          </a:p>
          <a:p>
            <a:r>
              <a:rPr lang="es-CO" dirty="0"/>
              <a:t>El contrato no es texto bonito: es una especificación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81B88-0593-469F-905D-90A3EE7DF000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1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A257E-FCE8-C8D4-3A31-5B1667462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9822F-056F-513C-BC02-783ADCC69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6C355-A69C-15D2-ECBE-B83EF02D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5ED389-FE06-8BFC-29FD-F369ED8C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E9389-B459-F7B3-1147-9B61462D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628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A72E5-1245-6879-B7C2-AFFAAE2E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C4178-46AE-B57F-13E9-2389DC7B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9410C-76F0-C6B8-4A91-EEA694D7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F1D1A3-A1A1-3369-25D1-F2B07300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CCDE8-C008-465C-134B-2BE82C794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823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9FB5E-3E77-152A-9D11-614C27F6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55CF0A-0C3D-A75C-82C4-643D57AC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587B52-5E78-F0EF-317D-B30ED6BF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FC792-986B-2F6D-5E5B-B0211A7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BF9A13-391E-4815-CE6E-920DA6E6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018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246B8-FF8F-7FFD-F352-D93B5378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8E357-3E87-410A-8092-A7D76B60C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0026D-D3B4-7094-3395-5A80A77E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17DFFC-F397-10A4-259C-93F695B3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482D7-4662-570F-9E05-11252F86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D8301-8E5E-E302-C6C1-5D41842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089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7F9C1-BA83-6E1D-A953-6DB4F3CE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3976C-0276-9EBB-DF9B-6D8BECD2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367CFC-EF6D-1405-C808-39CF00D6A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3AA245-2A42-7F63-C6FF-A70DF3F29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7997A4-8C39-A2D2-8028-EB65F782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89619F-AFAB-4CCE-1811-2EE4AF66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2E1D82-7A97-B855-C86E-77FDBC8F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4D49FF-7F1E-9100-05BB-231E395A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85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6FCB2-554A-8D23-320B-9BD1AEBFE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F6C289-6C54-DC32-EAA6-DF06085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FBA7EF-33AF-ADBE-A9B5-A2FF5D44D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C3FD05-5570-7FAB-FAE1-795A15B0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352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9458C4-FAC4-6319-29E5-C33C629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2DC7E9-A4BD-D8AB-F5C9-A326271C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6159C-0D49-ADE2-DC69-A8DFC153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0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A5B56-2FC5-1417-C02A-6F5A6899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9C86F-0477-461E-3322-30A3ECE6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EAA768-B7DE-DA28-221F-4A790AC37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62589C-83C8-3F16-A6DC-C05C261AC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C0135-169A-0476-7AC3-A1046B3A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4A2CC-3E38-B4E2-EAD3-BF83AD1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784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FE579-875E-B58F-6596-E2A4704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036D07-509F-0303-E1FA-D075AE684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2F65E2-34FD-E7D4-4196-FF66B607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038A3C-EC60-857B-33A2-79A106E5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A1F8E-BDBB-6F26-1851-3229D377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F2934A-BB47-822A-06AB-EA1BF5D1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021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66EB9-8854-7DBE-7631-243026E0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D5059-B411-CB41-846B-85E0EC4AE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D587F-F077-8A4F-130C-E3E0B911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49D4C-9F4E-FA54-FE58-8262C4AA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2858D0-F3DD-2037-F67E-E859F831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41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13B414-CAF8-5A6C-8872-4ED177999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B09E61-4490-8723-D401-3086832C1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0AF499-BA4A-368D-251B-090480C6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97DC5-2BF1-C46C-BCA3-40A50317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7BD53B-6E75-8A4E-EE55-9D359D0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43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46F9BB-D4BD-90C2-9433-D0882FC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B3D7F1-02CA-D5CA-79A8-97AD7CBC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A978E-6151-9D4F-1BFA-B56C4AD0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7455C-0909-4F9F-995D-5BEB3EC57555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6CF9D-D228-2EF1-0BCF-F730F8ED2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4B79E7-66DD-2661-FE9C-B1D12DB41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BAED-96EC-4F7C-B9F1-41D189B7C8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25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olden Wallpaper&quot; Images – Browse 5,156 Stock Photos, Vectors, and Video |  Adobe Stock">
            <a:extLst>
              <a:ext uri="{FF2B5EF4-FFF2-40B4-BE49-F238E27FC236}">
                <a16:creationId xmlns:a16="http://schemas.microsoft.com/office/drawing/2014/main" id="{FE125061-68B8-BC1C-7939-65EDF7F09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9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0F67C2-84B2-E723-DF5D-4253F78DE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CO" sz="6600">
                <a:solidFill>
                  <a:schemeClr val="bg1"/>
                </a:solidFill>
              </a:rPr>
              <a:t>Cardinalidad, Joins, Performance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03419-BFDA-2B4C-E67F-CC0116B52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chemeClr val="bg1"/>
                </a:solidFill>
              </a:rPr>
              <a:t>Gold + outputs + Export a artifacts</a:t>
            </a:r>
            <a:endParaRPr lang="es-CO">
              <a:solidFill>
                <a:schemeClr val="bg1"/>
              </a:solidFill>
            </a:endParaRP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4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14391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090347-C559-020D-1652-A3254128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¿Qué significa “Gold” en este curso?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B0A62-FF9E-F400-13B6-12998021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Gold = dataset preparado para análisis</a:t>
            </a:r>
            <a:endParaRPr lang="es-ES" sz="2000"/>
          </a:p>
          <a:p>
            <a:r>
              <a:rPr lang="es-ES" sz="2000"/>
              <a:t>Características:</a:t>
            </a:r>
          </a:p>
          <a:p>
            <a:pPr lvl="1"/>
            <a:r>
              <a:rPr lang="es-ES" sz="2000"/>
              <a:t>limpio (mínimos checks)</a:t>
            </a:r>
          </a:p>
          <a:p>
            <a:pPr lvl="1"/>
            <a:r>
              <a:rPr lang="es-ES" sz="2000"/>
              <a:t>agregado (menos filas)</a:t>
            </a:r>
          </a:p>
          <a:p>
            <a:pPr lvl="1"/>
            <a:r>
              <a:rPr lang="es-ES" sz="2000"/>
              <a:t>interpretables (métricas claras)</a:t>
            </a:r>
          </a:p>
          <a:p>
            <a:pPr lvl="1"/>
            <a:r>
              <a:rPr lang="es-ES" sz="2000"/>
              <a:t>reusable (vista o tabla)</a:t>
            </a:r>
          </a:p>
          <a:p>
            <a:pPr marL="0" indent="0">
              <a:buNone/>
            </a:pPr>
            <a:endParaRPr lang="es-CO" sz="20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ED68784-12FB-4251-F504-604B20F65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540006"/>
              </p:ext>
            </p:extLst>
          </p:nvPr>
        </p:nvGraphicFramePr>
        <p:xfrm>
          <a:off x="6719367" y="3276268"/>
          <a:ext cx="4788505" cy="1573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994">
                  <a:extLst>
                    <a:ext uri="{9D8B030D-6E8A-4147-A177-3AD203B41FA5}">
                      <a16:colId xmlns:a16="http://schemas.microsoft.com/office/drawing/2014/main" val="3638591663"/>
                    </a:ext>
                  </a:extLst>
                </a:gridCol>
                <a:gridCol w="2403511">
                  <a:extLst>
                    <a:ext uri="{9D8B030D-6E8A-4147-A177-3AD203B41FA5}">
                      <a16:colId xmlns:a16="http://schemas.microsoft.com/office/drawing/2014/main" val="3075680992"/>
                    </a:ext>
                  </a:extLst>
                </a:gridCol>
              </a:tblGrid>
              <a:tr h="586620">
                <a:tc>
                  <a:txBody>
                    <a:bodyPr/>
                    <a:lstStyle/>
                    <a:p>
                      <a:r>
                        <a:rPr lang="es-CO" sz="2600"/>
                        <a:t>SILVER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GOLD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3429874761"/>
                  </a:ext>
                </a:extLst>
              </a:tr>
              <a:tr h="986588">
                <a:tc>
                  <a:txBody>
                    <a:bodyPr/>
                    <a:lstStyle/>
                    <a:p>
                      <a:r>
                        <a:rPr lang="es-CO" sz="2600"/>
                        <a:t>Granularidad Alta</a:t>
                      </a:r>
                    </a:p>
                  </a:txBody>
                  <a:tcPr marL="133323" marR="133323" marT="66661" marB="66661"/>
                </a:tc>
                <a:tc>
                  <a:txBody>
                    <a:bodyPr/>
                    <a:lstStyle/>
                    <a:p>
                      <a:r>
                        <a:rPr lang="es-CO" sz="2600"/>
                        <a:t>Agregación y Sumario</a:t>
                      </a:r>
                    </a:p>
                  </a:txBody>
                  <a:tcPr marL="133323" marR="133323" marT="66661" marB="66661"/>
                </a:tc>
                <a:extLst>
                  <a:ext uri="{0D108BD9-81ED-4DB2-BD59-A6C34878D82A}">
                    <a16:rowId xmlns:a16="http://schemas.microsoft.com/office/drawing/2014/main" val="246404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4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D6640E-A1B3-E30A-78FA-CD460644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1: “por discoverymethod”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CD1D1-9568-80A5-0CAD-93852C7A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dirty="0"/>
              <a:t>¿Qué métodos dominan el descubrimiento de exoplanetas?</a:t>
            </a:r>
          </a:p>
          <a:p>
            <a:r>
              <a:rPr lang="es-CO" sz="2000" b="1" dirty="0"/>
              <a:t>Columnas Gold 1</a:t>
            </a:r>
            <a:endParaRPr lang="es-CO" sz="2000" dirty="0"/>
          </a:p>
          <a:p>
            <a:pPr lvl="1"/>
            <a:r>
              <a:rPr lang="es-CO" sz="2000" dirty="0" err="1"/>
              <a:t>discoverymethod</a:t>
            </a:r>
            <a:endParaRPr lang="es-CO" sz="2000" dirty="0"/>
          </a:p>
          <a:p>
            <a:pPr lvl="1"/>
            <a:r>
              <a:rPr lang="es-CO" sz="2000" dirty="0" err="1"/>
              <a:t>n_planets</a:t>
            </a:r>
            <a:endParaRPr lang="es-CO" sz="2000" dirty="0"/>
          </a:p>
          <a:p>
            <a:pPr lvl="1"/>
            <a:r>
              <a:rPr lang="es-CO" sz="2000" dirty="0" err="1"/>
              <a:t>avg_radius_earth</a:t>
            </a:r>
            <a:endParaRPr lang="es-CO" sz="2000" dirty="0"/>
          </a:p>
          <a:p>
            <a:pPr lvl="1"/>
            <a:r>
              <a:rPr lang="es-CO" sz="2000" dirty="0" err="1"/>
              <a:t>avg_mass_earth</a:t>
            </a:r>
            <a:endParaRPr lang="es-CO" sz="2000" dirty="0"/>
          </a:p>
          <a:p>
            <a:pPr lvl="1"/>
            <a:r>
              <a:rPr lang="es-CO" sz="2000" dirty="0" err="1"/>
              <a:t>first_year</a:t>
            </a:r>
            <a:r>
              <a:rPr lang="es-CO" sz="2000" dirty="0"/>
              <a:t>, </a:t>
            </a:r>
            <a:r>
              <a:rPr lang="es-CO" sz="2000" dirty="0" err="1"/>
              <a:t>last_year</a:t>
            </a:r>
            <a:endParaRPr lang="es-CO" sz="2000" dirty="0"/>
          </a:p>
        </p:txBody>
      </p:sp>
      <p:pic>
        <p:nvPicPr>
          <p:cNvPr id="5" name="Imagen 4" descr="Captura de pantalla con letras y números&#10;&#10;El contenido generado por IA puede ser incorrecto.">
            <a:extLst>
              <a:ext uri="{FF2B5EF4-FFF2-40B4-BE49-F238E27FC236}">
                <a16:creationId xmlns:a16="http://schemas.microsoft.com/office/drawing/2014/main" id="{C37E73CB-45CC-52CA-CE40-11F9C0F49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10" y="3117256"/>
            <a:ext cx="6295836" cy="24396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8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77F72466-8208-C9D2-5BAC-7E13DF33D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7602" y="643467"/>
            <a:ext cx="7676795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6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1BC0C2-97A9-083E-B7AB-74318CC0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/>
              <a:t>Gold 2: “por host (hostname)”</a:t>
            </a:r>
            <a:endParaRPr lang="es-CO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423F8-5C44-1C40-F11B-E2541F55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/>
              <a:t>¿Qué estrellas tienen más planetas y qué promedios tienen?</a:t>
            </a:r>
          </a:p>
          <a:p>
            <a:r>
              <a:rPr lang="es-CO" sz="2000" b="1"/>
              <a:t>Columnas Gold 2</a:t>
            </a:r>
            <a:endParaRPr lang="es-CO" sz="2000"/>
          </a:p>
          <a:p>
            <a:pPr lvl="1"/>
            <a:r>
              <a:rPr lang="es-CO" sz="2000"/>
              <a:t>hostname</a:t>
            </a:r>
          </a:p>
          <a:p>
            <a:pPr lvl="1"/>
            <a:r>
              <a:rPr lang="es-CO" sz="2000"/>
              <a:t>n_planets</a:t>
            </a:r>
          </a:p>
          <a:p>
            <a:pPr lvl="1"/>
            <a:r>
              <a:rPr lang="es-CO" sz="2000"/>
              <a:t>avg_radius_earth, avg_mass_earth</a:t>
            </a:r>
          </a:p>
          <a:p>
            <a:pPr lvl="1"/>
            <a:r>
              <a:rPr lang="es-CO" sz="2000"/>
              <a:t>sy_dist, ra, dec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E547BCA-3502-B3F0-F4A7-BE0E9C45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22" y="3094011"/>
            <a:ext cx="6082484" cy="22657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2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Marcador de contenido 8" descr="Texto&#10;&#10;El contenido generado por IA puede ser incorrecto.">
            <a:extLst>
              <a:ext uri="{FF2B5EF4-FFF2-40B4-BE49-F238E27FC236}">
                <a16:creationId xmlns:a16="http://schemas.microsoft.com/office/drawing/2014/main" id="{20EC1938-C921-7774-DF80-C4EBAD0F0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9268" y="643467"/>
            <a:ext cx="6993463" cy="5571065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4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7F419E-BABB-AAED-3D26-506D4F0F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100" b="1"/>
              <a:t>Export a artifacts: “evidencia reproducible”</a:t>
            </a:r>
            <a:endParaRPr lang="es-CO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ED71D1E-F45C-6690-9DE8-E1BA67902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 b="1"/>
              <a:t>Objetivo:</a:t>
            </a:r>
            <a:r>
              <a:rPr lang="es-CO" sz="2000"/>
              <a:t> dejar evidencia lista para entrega</a:t>
            </a:r>
          </a:p>
          <a:p>
            <a:r>
              <a:rPr lang="es-CO" sz="2000"/>
              <a:t>Archivos:</a:t>
            </a:r>
          </a:p>
          <a:p>
            <a:pPr lvl="1"/>
            <a:r>
              <a:rPr lang="es-CO" sz="2000"/>
              <a:t>artifacts/gold_by_discoverymethod.csv</a:t>
            </a:r>
          </a:p>
          <a:p>
            <a:pPr lvl="1"/>
            <a:r>
              <a:rPr lang="es-CO" sz="2000"/>
              <a:t>artifacts/gold_by_host.csv</a:t>
            </a:r>
          </a:p>
          <a:p>
            <a:endParaRPr lang="es-CO" sz="20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7D2D240-E0D0-7A39-A12F-45D03860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63" y="3684223"/>
            <a:ext cx="5936999" cy="11577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E35B8-2338-87AE-2F52-FDD45421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49253" cy="1325563"/>
          </a:xfrm>
        </p:spPr>
        <p:txBody>
          <a:bodyPr>
            <a:noAutofit/>
          </a:bodyPr>
          <a:lstStyle/>
          <a:p>
            <a:r>
              <a:rPr lang="es-CO" sz="3200" b="1" dirty="0" err="1"/>
              <a:t>Checklist</a:t>
            </a:r>
            <a:r>
              <a:rPr lang="es-CO" sz="3200" b="1" dirty="0"/>
              <a:t> técnico mínimo de cierre (debe pasar sí o sí)</a:t>
            </a: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73507-8E6F-5CB7-2C63-2AF6E076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dim_host_sk: </a:t>
            </a:r>
            <a:r>
              <a:rPr lang="es-CO" dirty="0" err="1"/>
              <a:t>uniqueness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COUNT(*) == COUNT(DISTINCT </a:t>
            </a:r>
            <a:r>
              <a:rPr lang="es-CO" dirty="0" err="1"/>
              <a:t>hostname</a:t>
            </a:r>
            <a:r>
              <a:rPr lang="es-CO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 err="1"/>
              <a:t>fact_planet_sk</a:t>
            </a:r>
            <a:r>
              <a:rPr lang="es-CO" dirty="0"/>
              <a:t>: huérfanos</a:t>
            </a:r>
          </a:p>
          <a:p>
            <a:pPr marL="0" indent="0">
              <a:buNone/>
            </a:pPr>
            <a:r>
              <a:rPr lang="es-CO" dirty="0" err="1"/>
              <a:t>orphan_rows</a:t>
            </a:r>
            <a:r>
              <a:rPr lang="es-CO" dirty="0"/>
              <a:t> == 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CO" dirty="0"/>
              <a:t>Gold corre sin error</a:t>
            </a:r>
          </a:p>
          <a:p>
            <a:pPr marL="0" indent="0">
              <a:buNone/>
            </a:pPr>
            <a:r>
              <a:rPr lang="es-CO" dirty="0"/>
              <a:t>2 vistas consultables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B83B427-C083-8042-691E-24E55E66F4B6}"/>
              </a:ext>
            </a:extLst>
          </p:cNvPr>
          <p:cNvSpPr txBox="1">
            <a:spLocks/>
          </p:cNvSpPr>
          <p:nvPr/>
        </p:nvSpPr>
        <p:spPr>
          <a:xfrm>
            <a:off x="6200273" y="1356895"/>
            <a:ext cx="5257800" cy="24897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 err="1"/>
              <a:t>Datasets</a:t>
            </a:r>
            <a:r>
              <a:rPr lang="es-CO" dirty="0"/>
              <a:t> (</a:t>
            </a:r>
            <a:r>
              <a:rPr lang="es-CO" dirty="0" err="1"/>
              <a:t>silver</a:t>
            </a:r>
            <a:r>
              <a:rPr lang="es-CO" dirty="0"/>
              <a:t>, </a:t>
            </a:r>
            <a:r>
              <a:rPr lang="es-CO" dirty="0" err="1"/>
              <a:t>dim</a:t>
            </a:r>
            <a:r>
              <a:rPr lang="es-CO" dirty="0"/>
              <a:t>/</a:t>
            </a:r>
            <a:r>
              <a:rPr lang="es-CO" dirty="0" err="1"/>
              <a:t>fact</a:t>
            </a:r>
            <a:r>
              <a:rPr lang="es-CO" dirty="0"/>
              <a:t>, </a:t>
            </a:r>
            <a:r>
              <a:rPr lang="es-CO" dirty="0" err="1"/>
              <a:t>gold</a:t>
            </a:r>
            <a:r>
              <a:rPr lang="es-CO" dirty="0"/>
              <a:t>)</a:t>
            </a:r>
          </a:p>
          <a:p>
            <a:r>
              <a:rPr lang="es-CO" dirty="0" err="1"/>
              <a:t>Grain</a:t>
            </a:r>
            <a:r>
              <a:rPr lang="es-CO" dirty="0"/>
              <a:t> por </a:t>
            </a:r>
            <a:r>
              <a:rPr lang="es-CO" dirty="0" err="1"/>
              <a:t>dataset</a:t>
            </a:r>
            <a:endParaRPr lang="es-CO" dirty="0"/>
          </a:p>
          <a:p>
            <a:r>
              <a:rPr lang="es-CO" dirty="0" err="1"/>
              <a:t>Keys</a:t>
            </a:r>
            <a:r>
              <a:rPr lang="es-CO" dirty="0"/>
              <a:t> (PK/UNIQUE/FK)</a:t>
            </a:r>
          </a:p>
          <a:p>
            <a:r>
              <a:rPr lang="es-CO" dirty="0" err="1"/>
              <a:t>Checks</a:t>
            </a:r>
            <a:r>
              <a:rPr lang="es-CO" dirty="0"/>
              <a:t> mínimos</a:t>
            </a:r>
          </a:p>
          <a:p>
            <a:r>
              <a:rPr lang="es-CO" dirty="0"/>
              <a:t>Outputs Gold + columnas</a:t>
            </a:r>
          </a:p>
          <a:p>
            <a:endParaRPr lang="es-CO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2471B8-820D-A85F-DAD2-2C0F4AAA5C2F}"/>
              </a:ext>
            </a:extLst>
          </p:cNvPr>
          <p:cNvSpPr txBox="1">
            <a:spLocks/>
          </p:cNvSpPr>
          <p:nvPr/>
        </p:nvSpPr>
        <p:spPr>
          <a:xfrm>
            <a:off x="6304547" y="31332"/>
            <a:ext cx="50492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dirty="0"/>
              <a:t>Data </a:t>
            </a:r>
            <a:r>
              <a:rPr lang="es-CO" sz="3200" b="1" dirty="0" err="1"/>
              <a:t>Contract</a:t>
            </a:r>
            <a:r>
              <a:rPr lang="es-CO" sz="3200" b="1" dirty="0"/>
              <a:t> final (qué debe contener)</a:t>
            </a:r>
            <a:endParaRPr lang="es-CO" sz="3200" dirty="0"/>
          </a:p>
        </p:txBody>
      </p:sp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293A6EE-B52D-B6ED-AD18-98FC24FD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83" y="4359332"/>
            <a:ext cx="3203782" cy="2283546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44D84-CA02-649A-8A7D-31E79CD72AEF}"/>
              </a:ext>
            </a:extLst>
          </p:cNvPr>
          <p:cNvCxnSpPr/>
          <p:nvPr/>
        </p:nvCxnSpPr>
        <p:spPr>
          <a:xfrm>
            <a:off x="5887453" y="4001294"/>
            <a:ext cx="6015789" cy="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CD7F40-E057-C3A3-474C-C05F5026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O" sz="4800" b="1"/>
              <a:t>Entregables H2 (exacto lo que entregan)</a:t>
            </a:r>
            <a:endParaRPr lang="es-CO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F37C6D-9A3B-D911-F80C-B5BBA1E93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CO" sz="1900"/>
              <a:t>artifacts/gold_by_discoverymethod.csv</a:t>
            </a:r>
          </a:p>
          <a:p>
            <a:r>
              <a:rPr lang="es-CO" sz="1900"/>
              <a:t>artifacts/gold_by_host.csv</a:t>
            </a:r>
          </a:p>
          <a:p>
            <a:r>
              <a:rPr lang="es-CO" sz="1900"/>
              <a:t>docs/data_contract.md</a:t>
            </a:r>
          </a:p>
          <a:p>
            <a:r>
              <a:rPr lang="es-CO" sz="1900"/>
              <a:t>docs/decisions_log.md</a:t>
            </a:r>
          </a:p>
          <a:p>
            <a:r>
              <a:rPr lang="es-CO" sz="1900"/>
              <a:t>docs/w05b_gold_report.md</a:t>
            </a:r>
          </a:p>
          <a:p>
            <a:r>
              <a:rPr lang="es-CO" sz="1900"/>
              <a:t>DDL en </a:t>
            </a:r>
            <a:r>
              <a:rPr lang="es-CO" sz="1900">
                <a:latin typeface="Courier New" panose="02070309020205020404" pitchFamily="49" charset="0"/>
              </a:rPr>
              <a:t>sql/ddl.sql</a:t>
            </a:r>
            <a:endParaRPr lang="es-CO" sz="1900"/>
          </a:p>
          <a:p>
            <a:r>
              <a:rPr lang="es-CO" sz="1900"/>
              <a:t>10 queries en </a:t>
            </a:r>
            <a:r>
              <a:rPr lang="es-CO" sz="1900">
                <a:latin typeface="Courier New" panose="02070309020205020404" pitchFamily="49" charset="0"/>
              </a:rPr>
              <a:t>sql/queries.sql</a:t>
            </a:r>
            <a:endParaRPr lang="es-CO" sz="1900"/>
          </a:p>
          <a:p>
            <a:r>
              <a:rPr lang="es-CO" sz="1900"/>
              <a:t>checks de calidad en </a:t>
            </a:r>
            <a:r>
              <a:rPr lang="es-CO" sz="1900">
                <a:latin typeface="Courier New" panose="02070309020205020404" pitchFamily="49" charset="0"/>
              </a:rPr>
              <a:t>sql/quality_checks.sql</a:t>
            </a:r>
            <a:endParaRPr lang="es-CO" sz="1900"/>
          </a:p>
          <a:p>
            <a:endParaRPr lang="es-CO" sz="19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68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507</Words>
  <Application>Microsoft Office PowerPoint</Application>
  <PresentationFormat>Panorámica</PresentationFormat>
  <Paragraphs>86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Wingdings</vt:lpstr>
      <vt:lpstr>Tema de Office</vt:lpstr>
      <vt:lpstr>Cardinalidad, Joins, Performance</vt:lpstr>
      <vt:lpstr>¿Dónde vamos?</vt:lpstr>
      <vt:lpstr>¿Qué significa “Gold” en este curso?</vt:lpstr>
      <vt:lpstr>Gold 1: “por discoverymethod”</vt:lpstr>
      <vt:lpstr>Presentación de PowerPoint</vt:lpstr>
      <vt:lpstr>Gold 2: “por host (hostname)”</vt:lpstr>
      <vt:lpstr>Presentación de PowerPoint</vt:lpstr>
      <vt:lpstr>Export a artifacts: “evidencia reproducible”</vt:lpstr>
      <vt:lpstr>Checklist técnico mínimo de cierre (debe pasar sí o sí)</vt:lpstr>
      <vt:lpstr>Entregables H2 (exacto lo que entregan)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5</cp:revision>
  <dcterms:created xsi:type="dcterms:W3CDTF">2026-01-19T03:20:07Z</dcterms:created>
  <dcterms:modified xsi:type="dcterms:W3CDTF">2026-01-21T23:58:17Z</dcterms:modified>
</cp:coreProperties>
</file>