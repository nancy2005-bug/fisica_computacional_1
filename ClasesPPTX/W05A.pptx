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58" r:id="rId4"/>
    <p:sldId id="269" r:id="rId5"/>
    <p:sldId id="260" r:id="rId6"/>
    <p:sldId id="262" r:id="rId7"/>
    <p:sldId id="261" r:id="rId8"/>
    <p:sldId id="270" r:id="rId9"/>
    <p:sldId id="272" r:id="rId10"/>
    <p:sldId id="273" r:id="rId11"/>
    <p:sldId id="271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B7B8"/>
    <a:srgbClr val="282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8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W03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Hoy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1" dirty="0"/>
            <a:t>Diseño relacional mínimo (PK/FK + llaves)</a:t>
          </a:r>
          <a:endParaRPr lang="es-CO" dirty="0"/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0"/>
      <dgm:spPr/>
    </dgm:pt>
    <dgm:pt modelId="{3941855B-9F45-4A82-956B-02684A432AA5}" type="pres">
      <dgm:prSet presAssocID="{CF314EE2-D6D7-4536-A6FD-41DF85B6060B}" presName="Ellipse" presStyleLbl="fgAcc1" presStyleIdx="0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5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0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5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0"/>
      <dgm:spPr/>
    </dgm:pt>
    <dgm:pt modelId="{591D0C9E-F3BD-4ACE-A927-797BE3DA39DF}" type="pres">
      <dgm:prSet presAssocID="{DB0F8EA1-4EC9-4B36-B3A0-726A64C3981F}" presName="Ellipse" presStyleLbl="fgAcc1" presStyleIdx="1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5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0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5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4" presStyleCnt="10"/>
      <dgm:spPr/>
    </dgm:pt>
    <dgm:pt modelId="{64CCA8F3-173A-4D74-B9A2-49BDD6D8183A}" type="pres">
      <dgm:prSet presAssocID="{D50E325C-02F8-4636-83C7-06D5FCD3BA82}" presName="Ellipse" presStyleLbl="fgAcc1" presStyleIdx="2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2" presStyleCnt="5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5" presStyleCnt="10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2" presStyleCnt="5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6" presStyleCnt="10"/>
      <dgm:spPr/>
    </dgm:pt>
    <dgm:pt modelId="{A8F6EDE2-EF0C-457E-BC04-95B7917B5FF1}" type="pres">
      <dgm:prSet presAssocID="{16BBC706-20BB-4DAB-BE2E-AFABD3EB8DF4}" presName="Ellipse" presStyleLbl="fgAcc1" presStyleIdx="3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3" presStyleCnt="5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7" presStyleCnt="10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3" presStyleCnt="5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8" presStyleCnt="10"/>
      <dgm:spPr/>
    </dgm:pt>
    <dgm:pt modelId="{0E07606D-90D6-4C46-9C6F-D1FA7A46AD31}" type="pres">
      <dgm:prSet presAssocID="{D58E6C69-1D05-44C2-9491-5FDB663AAFB1}" presName="Ellipse" presStyleLbl="fgAcc1" presStyleIdx="4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4" presStyleCnt="5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9" presStyleCnt="10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4" presStyleCnt="5"/>
      <dgm:spPr/>
    </dgm:pt>
    <dgm:pt modelId="{7D6140CA-EF57-4603-ADAF-5E5FB81F7207}" type="pres">
      <dgm:prSet presAssocID="{D58E6C69-1D05-44C2-9491-5FDB663AAFB1}" presName="EmptyPlaceHolder" presStyleCnt="0"/>
      <dgm:spPr/>
    </dgm:pt>
  </dgm:ptLst>
  <dgm:cxnLst>
    <dgm:cxn modelId="{9F7E5305-A7C0-42ED-A7D0-C07C3E5B9FE1}" type="presOf" srcId="{CF314EE2-D6D7-4536-A6FD-41DF85B6060B}" destId="{01E41ACE-E33B-41B9-A714-73522D3F7C76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4" destOrd="0" parTransId="{5A34F788-8BB8-41E7-B4B9-5FA4F647078C}" sibTransId="{7B85E398-94A7-4AB5-8CDF-7F81E2F539B1}"/>
    <dgm:cxn modelId="{CCCB8F17-CC10-4903-A903-872FB70B8099}" type="presOf" srcId="{15D026C8-3FA6-448A-A3BC-AAA5CEA229FC}" destId="{443870C5-2799-47B5-AA6B-A0C45107D3FC}" srcOrd="0" destOrd="0" presId="urn:microsoft.com/office/officeart/2024/3/layout/SimpleTimelineDefaultVariant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5E22A32E-42E7-41FC-BA78-0D55911763D3}" type="presOf" srcId="{DB0F8EA1-4EC9-4B36-B3A0-726A64C3981F}" destId="{89EF5014-7ECE-4300-A882-B69FFA73745D}" srcOrd="0" destOrd="0" presId="urn:microsoft.com/office/officeart/2024/3/layout/SimpleTimelineDefaultVariant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B11FA945-4449-4D5F-A93D-3262FD9FF2EE}" type="presOf" srcId="{925E6D1D-D87D-40EB-9615-95968B35A91B}" destId="{00D2B9ED-BE51-47B3-B26C-BA45F9641DBB}" srcOrd="0" destOrd="0" presId="urn:microsoft.com/office/officeart/2024/3/layout/SimpleTimelineDefaultVariant"/>
    <dgm:cxn modelId="{47DE2271-EB1F-440E-9F73-42D4EED37E96}" type="presOf" srcId="{D50E325C-02F8-4636-83C7-06D5FCD3BA82}" destId="{2664027A-B5AC-41CA-A071-5DF0CF1E8120}" srcOrd="0" destOrd="0" presId="urn:microsoft.com/office/officeart/2024/3/layout/SimpleTimelineDefaultVariant"/>
    <dgm:cxn modelId="{3629B453-7417-4848-A59B-0DC341C4E48B}" type="presOf" srcId="{C65E3B61-EBF5-4BE9-9C69-BC45396A57AD}" destId="{A8C61B89-04C1-40B8-A753-92BDABE39300}" srcOrd="0" destOrd="0" presId="urn:microsoft.com/office/officeart/2024/3/layout/SimpleTimelineDefaultVariant"/>
    <dgm:cxn modelId="{5B03E37C-4FA6-4FE3-9CC9-C9BE34E43339}" srcId="{DB0F8EA1-4EC9-4B36-B3A0-726A64C3981F}" destId="{15D026C8-3FA6-448A-A3BC-AAA5CEA229FC}" srcOrd="0" destOrd="0" parTransId="{57134387-37E6-4073-B620-EB2BC76CDF46}" sibTransId="{E937AFED-88C7-4905-9A04-A9EE8FF53C44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915FFF93-5E66-419D-9F43-1C4AE4341E66}" type="presOf" srcId="{9F792233-6D2D-4F91-A8EB-9D8F22D4829D}" destId="{31877334-3A87-4D72-A1B1-F99AFF9D710D}" srcOrd="0" destOrd="0" presId="urn:microsoft.com/office/officeart/2024/3/layout/SimpleTimelineDefaultVariant"/>
    <dgm:cxn modelId="{9A54749F-3A2C-4DF7-9FBE-ADE63C233901}" type="presOf" srcId="{16BBC706-20BB-4DAB-BE2E-AFABD3EB8DF4}" destId="{EE41F65A-AA70-4EE3-81F3-A539EF20984B}" srcOrd="0" destOrd="0" presId="urn:microsoft.com/office/officeart/2024/3/layout/SimpleTimelineDefaultVariant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A18F02A4-9CFB-46A9-9689-45F9B518FFD8}" srcId="{2430CC21-05DE-42C5-993E-E946140B4D86}" destId="{16BBC706-20BB-4DAB-BE2E-AFABD3EB8DF4}" srcOrd="3" destOrd="0" parTransId="{FFC39569-AC40-4992-905B-F5979F552B76}" sibTransId="{2BE8C82F-3D4F-4067-BF75-088338C4E144}"/>
    <dgm:cxn modelId="{80E319D2-C14A-43B7-9AA9-466C9EC1600B}" type="presOf" srcId="{C9334617-D8FF-4772-940C-26C317DD1123}" destId="{229A8B9E-D26E-4B8B-B637-778F404FB5B5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2" destOrd="0" parTransId="{B10AAB54-8404-4113-AEA9-476DC7B36F38}" sibTransId="{235F5447-7591-489B-8E03-171373207EFC}"/>
    <dgm:cxn modelId="{58F177DC-AFB8-439C-8A40-DC5092B9D1B8}" type="presOf" srcId="{D58E6C69-1D05-44C2-9491-5FDB663AAFB1}" destId="{F7F215AA-1548-4946-9818-24CE434B0257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066D5A18-2E8C-484C-9548-617963170ED8}" type="presParOf" srcId="{9AE89FB1-F474-491F-AB27-A0F134775DF5}" destId="{B7BF8D1E-0607-4B5F-981C-154E326D1064}" srcOrd="0" destOrd="0" presId="urn:microsoft.com/office/officeart/2024/3/layout/SimpleTimelineDefaultVariant"/>
    <dgm:cxn modelId="{3B669F2F-0FD4-4A85-AA91-77EBDA8A24D3}" type="presParOf" srcId="{9AE89FB1-F474-491F-AB27-A0F134775DF5}" destId="{A7AE47DD-8DEC-4B56-9367-A4C3486B2D96}" srcOrd="1" destOrd="0" presId="urn:microsoft.com/office/officeart/2024/3/layout/SimpleTimelineDefaultVariant"/>
    <dgm:cxn modelId="{74AB13B8-9874-406D-A536-8E1052005EA1}" type="presParOf" srcId="{A7AE47DD-8DEC-4B56-9367-A4C3486B2D96}" destId="{53FB245B-549F-41A8-85A7-8DC9298ABFD7}" srcOrd="0" destOrd="0" presId="urn:microsoft.com/office/officeart/2024/3/layout/SimpleTimelineDefaultVariant"/>
    <dgm:cxn modelId="{1393C8DD-1B38-4F27-8013-267A7D40B558}" type="presParOf" srcId="{53FB245B-549F-41A8-85A7-8DC9298ABFD7}" destId="{34DD218C-FBA4-4914-8E86-E286CBBF679B}" srcOrd="0" destOrd="0" presId="urn:microsoft.com/office/officeart/2024/3/layout/SimpleTimelineDefaultVariant"/>
    <dgm:cxn modelId="{C3B24378-0B97-4156-9EA1-F2655DD720D1}" type="presParOf" srcId="{53FB245B-549F-41A8-85A7-8DC9298ABFD7}" destId="{D7F5E375-D0CA-42FC-835A-31381C5E5D37}" srcOrd="1" destOrd="0" presId="urn:microsoft.com/office/officeart/2024/3/layout/SimpleTimelineDefaultVariant"/>
    <dgm:cxn modelId="{EFF7C30F-5104-4486-A7B6-78DD04385A72}" type="presParOf" srcId="{D7F5E375-D0CA-42FC-835A-31381C5E5D37}" destId="{90BFAD0B-06DA-4B4F-B83D-5C02B8A89EC4}" srcOrd="0" destOrd="0" presId="urn:microsoft.com/office/officeart/2024/3/layout/SimpleTimelineDefaultVariant"/>
    <dgm:cxn modelId="{94F321F8-4944-466B-A445-E93FB02BE0F8}" type="presParOf" srcId="{D7F5E375-D0CA-42FC-835A-31381C5E5D37}" destId="{3941855B-9F45-4A82-956B-02684A432AA5}" srcOrd="1" destOrd="0" presId="urn:microsoft.com/office/officeart/2024/3/layout/SimpleTimelineDefaultVariant"/>
    <dgm:cxn modelId="{0BB81A8B-4E3A-468E-B8E6-324DCD9A8631}" type="presParOf" srcId="{53FB245B-549F-41A8-85A7-8DC9298ABFD7}" destId="{31877334-3A87-4D72-A1B1-F99AFF9D710D}" srcOrd="2" destOrd="0" presId="urn:microsoft.com/office/officeart/2024/3/layout/SimpleTimelineDefaultVariant"/>
    <dgm:cxn modelId="{6B52CE51-B24C-4D71-9EC5-01808FCD2084}" type="presParOf" srcId="{53FB245B-549F-41A8-85A7-8DC9298ABFD7}" destId="{01E41ACE-E33B-41B9-A714-73522D3F7C76}" srcOrd="3" destOrd="0" presId="urn:microsoft.com/office/officeart/2024/3/layout/SimpleTimelineDefaultVariant"/>
    <dgm:cxn modelId="{92786818-E059-4D9B-9344-16C2EE86789A}" type="presParOf" srcId="{53FB245B-549F-41A8-85A7-8DC9298ABFD7}" destId="{CEE8CE24-AD73-4777-BAB3-4A5D9CE74308}" srcOrd="4" destOrd="0" presId="urn:microsoft.com/office/officeart/2024/3/layout/SimpleTimelineDefaultVariant"/>
    <dgm:cxn modelId="{AFE9473A-108E-458F-B450-58FAE819A0BC}" type="presParOf" srcId="{53FB245B-549F-41A8-85A7-8DC9298ABFD7}" destId="{CA0DAB95-CF81-4C72-99EC-F6A08D694850}" srcOrd="5" destOrd="0" presId="urn:microsoft.com/office/officeart/2024/3/layout/SimpleTimelineDefaultVariant"/>
    <dgm:cxn modelId="{7A9C8646-BE5E-43E8-8A8A-0B8D6550F0F0}" type="presParOf" srcId="{A7AE47DD-8DEC-4B56-9367-A4C3486B2D96}" destId="{5B1444F8-B111-4850-AE5F-D928CB18CD7B}" srcOrd="1" destOrd="0" presId="urn:microsoft.com/office/officeart/2024/3/layout/SimpleTimelineDefaultVariant"/>
    <dgm:cxn modelId="{CE7084FA-1070-4132-99E6-371B4740A470}" type="presParOf" srcId="{A7AE47DD-8DEC-4B56-9367-A4C3486B2D96}" destId="{3E821FC4-A874-450B-8482-9337AC1C1E0B}" srcOrd="2" destOrd="0" presId="urn:microsoft.com/office/officeart/2024/3/layout/SimpleTimelineDefaultVariant"/>
    <dgm:cxn modelId="{E10F3C62-526E-4E0E-B125-5B377161F741}" type="presParOf" srcId="{3E821FC4-A874-450B-8482-9337AC1C1E0B}" destId="{0D3203CA-3A44-4E67-9918-35447FA83302}" srcOrd="0" destOrd="0" presId="urn:microsoft.com/office/officeart/2024/3/layout/SimpleTimelineDefaultVariant"/>
    <dgm:cxn modelId="{F817842A-05E5-49AC-AE76-9DB796B47E7A}" type="presParOf" srcId="{3E821FC4-A874-450B-8482-9337AC1C1E0B}" destId="{167C0091-4211-46CD-8319-88B0084C9D44}" srcOrd="1" destOrd="0" presId="urn:microsoft.com/office/officeart/2024/3/layout/SimpleTimelineDefaultVariant"/>
    <dgm:cxn modelId="{00A99AB8-03D4-4F56-9AB9-46793762E406}" type="presParOf" srcId="{167C0091-4211-46CD-8319-88B0084C9D44}" destId="{DC0398C9-F266-4E41-85EE-CAB679514169}" srcOrd="0" destOrd="0" presId="urn:microsoft.com/office/officeart/2024/3/layout/SimpleTimelineDefaultVariant"/>
    <dgm:cxn modelId="{0B18FDC2-8F52-4EFC-BDA8-5C850D4762FC}" type="presParOf" srcId="{167C0091-4211-46CD-8319-88B0084C9D44}" destId="{591D0C9E-F3BD-4ACE-A927-797BE3DA39DF}" srcOrd="1" destOrd="0" presId="urn:microsoft.com/office/officeart/2024/3/layout/SimpleTimelineDefaultVariant"/>
    <dgm:cxn modelId="{2FF5D9E6-A2DB-44AB-93E8-897B115DED7C}" type="presParOf" srcId="{3E821FC4-A874-450B-8482-9337AC1C1E0B}" destId="{443870C5-2799-47B5-AA6B-A0C45107D3FC}" srcOrd="2" destOrd="0" presId="urn:microsoft.com/office/officeart/2024/3/layout/SimpleTimelineDefaultVariant"/>
    <dgm:cxn modelId="{700021FA-5BF9-48BD-8AB9-1390B21DFCB4}" type="presParOf" srcId="{3E821FC4-A874-450B-8482-9337AC1C1E0B}" destId="{89EF5014-7ECE-4300-A882-B69FFA73745D}" srcOrd="3" destOrd="0" presId="urn:microsoft.com/office/officeart/2024/3/layout/SimpleTimelineDefaultVariant"/>
    <dgm:cxn modelId="{78E6E696-05FF-4195-A762-D5F57014F470}" type="presParOf" srcId="{3E821FC4-A874-450B-8482-9337AC1C1E0B}" destId="{7FC7980B-78D1-4A8D-9208-76052E50D81B}" srcOrd="4" destOrd="0" presId="urn:microsoft.com/office/officeart/2024/3/layout/SimpleTimelineDefaultVariant"/>
    <dgm:cxn modelId="{8C4D5455-8528-4935-81B5-6BCCE31B4B3F}" type="presParOf" srcId="{3E821FC4-A874-450B-8482-9337AC1C1E0B}" destId="{2A9B783C-D24D-49E5-BA81-DDD844BCDDD5}" srcOrd="5" destOrd="0" presId="urn:microsoft.com/office/officeart/2024/3/layout/SimpleTimelineDefaultVariant"/>
    <dgm:cxn modelId="{96FC1F9B-BE33-4EA5-8579-909C9A48D4A2}" type="presParOf" srcId="{A7AE47DD-8DEC-4B56-9367-A4C3486B2D96}" destId="{0C971922-0DF1-44AF-961F-8011F77D6504}" srcOrd="3" destOrd="0" presId="urn:microsoft.com/office/officeart/2024/3/layout/SimpleTimelineDefaultVariant"/>
    <dgm:cxn modelId="{4B4D43CC-E36B-4CAF-B861-2F2F1B306215}" type="presParOf" srcId="{A7AE47DD-8DEC-4B56-9367-A4C3486B2D96}" destId="{538F7CB4-9A53-484B-81CA-260A79B4F163}" srcOrd="4" destOrd="0" presId="urn:microsoft.com/office/officeart/2024/3/layout/SimpleTimelineDefaultVariant"/>
    <dgm:cxn modelId="{82C654E3-4787-4B7D-B03D-0D100CA83A6E}" type="presParOf" srcId="{538F7CB4-9A53-484B-81CA-260A79B4F163}" destId="{682EA88A-A4E4-4AA7-9FB1-B83F193F2C39}" srcOrd="0" destOrd="0" presId="urn:microsoft.com/office/officeart/2024/3/layout/SimpleTimelineDefaultVariant"/>
    <dgm:cxn modelId="{86658A40-ECCF-4BEB-BD6F-7209BC59FA3A}" type="presParOf" srcId="{538F7CB4-9A53-484B-81CA-260A79B4F163}" destId="{A0323C5B-5787-4ABC-9130-A621889E8E36}" srcOrd="1" destOrd="0" presId="urn:microsoft.com/office/officeart/2024/3/layout/SimpleTimelineDefaultVariant"/>
    <dgm:cxn modelId="{73B663A8-0201-4F35-AD3C-EE6640114023}" type="presParOf" srcId="{A0323C5B-5787-4ABC-9130-A621889E8E36}" destId="{4E9D8699-570F-428F-B34E-A8AE18B2A17F}" srcOrd="0" destOrd="0" presId="urn:microsoft.com/office/officeart/2024/3/layout/SimpleTimelineDefaultVariant"/>
    <dgm:cxn modelId="{1719BA1F-9FA5-4CE8-8291-B2C291CA9BE8}" type="presParOf" srcId="{A0323C5B-5787-4ABC-9130-A621889E8E36}" destId="{64CCA8F3-173A-4D74-B9A2-49BDD6D8183A}" srcOrd="1" destOrd="0" presId="urn:microsoft.com/office/officeart/2024/3/layout/SimpleTimelineDefaultVariant"/>
    <dgm:cxn modelId="{7A8CE64B-5AB6-43DC-9BB1-D43D901AFEF9}" type="presParOf" srcId="{538F7CB4-9A53-484B-81CA-260A79B4F163}" destId="{00D2B9ED-BE51-47B3-B26C-BA45F9641DBB}" srcOrd="2" destOrd="0" presId="urn:microsoft.com/office/officeart/2024/3/layout/SimpleTimelineDefaultVariant"/>
    <dgm:cxn modelId="{999E1437-653D-4C20-8109-69C8F63F6BB6}" type="presParOf" srcId="{538F7CB4-9A53-484B-81CA-260A79B4F163}" destId="{2664027A-B5AC-41CA-A071-5DF0CF1E8120}" srcOrd="3" destOrd="0" presId="urn:microsoft.com/office/officeart/2024/3/layout/SimpleTimelineDefaultVariant"/>
    <dgm:cxn modelId="{8398D807-7F65-497B-8F67-E83E422BD0C5}" type="presParOf" srcId="{538F7CB4-9A53-484B-81CA-260A79B4F163}" destId="{6F004247-9FD8-4E6D-9363-DE121E4356A0}" srcOrd="4" destOrd="0" presId="urn:microsoft.com/office/officeart/2024/3/layout/SimpleTimelineDefaultVariant"/>
    <dgm:cxn modelId="{A6AA1671-8164-49C0-A3FA-63042AF3F06E}" type="presParOf" srcId="{538F7CB4-9A53-484B-81CA-260A79B4F163}" destId="{5A9AD2D3-337B-4134-B8ED-771B806C587F}" srcOrd="5" destOrd="0" presId="urn:microsoft.com/office/officeart/2024/3/layout/SimpleTimelineDefaultVariant"/>
    <dgm:cxn modelId="{79D168E9-5F98-4BA9-8F19-A6BE31EF2432}" type="presParOf" srcId="{A7AE47DD-8DEC-4B56-9367-A4C3486B2D96}" destId="{A7600265-0C88-4CF8-BE9B-117522065D4D}" srcOrd="5" destOrd="0" presId="urn:microsoft.com/office/officeart/2024/3/layout/SimpleTimelineDefaultVariant"/>
    <dgm:cxn modelId="{C2A2D83E-F116-41BE-8574-08634AA9595B}" type="presParOf" srcId="{A7AE47DD-8DEC-4B56-9367-A4C3486B2D96}" destId="{2B5389DC-7DD6-4BC8-B779-D6F9230E7016}" srcOrd="6" destOrd="0" presId="urn:microsoft.com/office/officeart/2024/3/layout/SimpleTimelineDefaultVariant"/>
    <dgm:cxn modelId="{17667FDE-A26B-4DE8-BA8B-117B1B9422CE}" type="presParOf" srcId="{2B5389DC-7DD6-4BC8-B779-D6F9230E7016}" destId="{410FA866-99AD-47B6-AB30-6629B2F7603F}" srcOrd="0" destOrd="0" presId="urn:microsoft.com/office/officeart/2024/3/layout/SimpleTimelineDefaultVariant"/>
    <dgm:cxn modelId="{BED746F2-666F-4F10-9CC6-41EE29C06D6F}" type="presParOf" srcId="{2B5389DC-7DD6-4BC8-B779-D6F9230E7016}" destId="{62656441-CCB5-4F11-87D3-A71692F13D3F}" srcOrd="1" destOrd="0" presId="urn:microsoft.com/office/officeart/2024/3/layout/SimpleTimelineDefaultVariant"/>
    <dgm:cxn modelId="{A5AB7727-474A-456A-879E-0F973BD4E553}" type="presParOf" srcId="{62656441-CCB5-4F11-87D3-A71692F13D3F}" destId="{1D54DDC9-D893-4C2D-937E-BD8391046565}" srcOrd="0" destOrd="0" presId="urn:microsoft.com/office/officeart/2024/3/layout/SimpleTimelineDefaultVariant"/>
    <dgm:cxn modelId="{8E1D78BF-45B4-4D1B-9B93-7E185310FD9C}" type="presParOf" srcId="{62656441-CCB5-4F11-87D3-A71692F13D3F}" destId="{A8F6EDE2-EF0C-457E-BC04-95B7917B5FF1}" srcOrd="1" destOrd="0" presId="urn:microsoft.com/office/officeart/2024/3/layout/SimpleTimelineDefaultVariant"/>
    <dgm:cxn modelId="{95CAF424-05E5-4664-B342-EF3B5954AA9A}" type="presParOf" srcId="{2B5389DC-7DD6-4BC8-B779-D6F9230E7016}" destId="{229A8B9E-D26E-4B8B-B637-778F404FB5B5}" srcOrd="2" destOrd="0" presId="urn:microsoft.com/office/officeart/2024/3/layout/SimpleTimelineDefaultVariant"/>
    <dgm:cxn modelId="{AA201145-2A76-4483-B8F0-8392FB98D7EE}" type="presParOf" srcId="{2B5389DC-7DD6-4BC8-B779-D6F9230E7016}" destId="{EE41F65A-AA70-4EE3-81F3-A539EF20984B}" srcOrd="3" destOrd="0" presId="urn:microsoft.com/office/officeart/2024/3/layout/SimpleTimelineDefaultVariant"/>
    <dgm:cxn modelId="{8B6E80D4-2806-4A69-9E73-41CD39547D73}" type="presParOf" srcId="{2B5389DC-7DD6-4BC8-B779-D6F9230E7016}" destId="{E28909AF-007C-49D7-8958-97FF1699473D}" srcOrd="4" destOrd="0" presId="urn:microsoft.com/office/officeart/2024/3/layout/SimpleTimelineDefaultVariant"/>
    <dgm:cxn modelId="{FBB39C02-54F7-4D4E-A470-BEB20C8A9800}" type="presParOf" srcId="{2B5389DC-7DD6-4BC8-B779-D6F9230E7016}" destId="{6C0C9696-FE62-48F7-8988-6F70C68CBD83}" srcOrd="5" destOrd="0" presId="urn:microsoft.com/office/officeart/2024/3/layout/SimpleTimelineDefaultVariant"/>
    <dgm:cxn modelId="{A08FE092-70CE-4BB3-A0AB-00755DD85AD0}" type="presParOf" srcId="{A7AE47DD-8DEC-4B56-9367-A4C3486B2D96}" destId="{F46B52D1-BAB5-4C3E-A7AE-5109068EFB92}" srcOrd="7" destOrd="0" presId="urn:microsoft.com/office/officeart/2024/3/layout/SimpleTimelineDefaultVariant"/>
    <dgm:cxn modelId="{97101549-6801-447E-886D-7CF546182FB3}" type="presParOf" srcId="{A7AE47DD-8DEC-4B56-9367-A4C3486B2D96}" destId="{A74FF97E-7200-4943-9A5B-13D208BDD317}" srcOrd="8" destOrd="0" presId="urn:microsoft.com/office/officeart/2024/3/layout/SimpleTimelineDefaultVariant"/>
    <dgm:cxn modelId="{AA2D2BE4-D77B-427C-BF71-8873269A419C}" type="presParOf" srcId="{A74FF97E-7200-4943-9A5B-13D208BDD317}" destId="{D1F0411E-85F0-49A3-90A8-C760162A06F7}" srcOrd="0" destOrd="0" presId="urn:microsoft.com/office/officeart/2024/3/layout/SimpleTimelineDefaultVariant"/>
    <dgm:cxn modelId="{3CF0F203-BF75-477B-8BD3-B7117933E55F}" type="presParOf" srcId="{A74FF97E-7200-4943-9A5B-13D208BDD317}" destId="{F77DF66D-9675-47A7-ADD4-F35123143610}" srcOrd="1" destOrd="0" presId="urn:microsoft.com/office/officeart/2024/3/layout/SimpleTimelineDefaultVariant"/>
    <dgm:cxn modelId="{E2F229F5-8DDE-47E7-9E2D-A83E28D3D789}" type="presParOf" srcId="{F77DF66D-9675-47A7-ADD4-F35123143610}" destId="{061DA4A7-7DD3-47A6-8F75-591FD3C5F66E}" srcOrd="0" destOrd="0" presId="urn:microsoft.com/office/officeart/2024/3/layout/SimpleTimelineDefaultVariant"/>
    <dgm:cxn modelId="{0610733D-FFD9-4BAD-9058-18D4C2B10EB8}" type="presParOf" srcId="{F77DF66D-9675-47A7-ADD4-F35123143610}" destId="{0E07606D-90D6-4C46-9C6F-D1FA7A46AD31}" srcOrd="1" destOrd="0" presId="urn:microsoft.com/office/officeart/2024/3/layout/SimpleTimelineDefaultVariant"/>
    <dgm:cxn modelId="{68012CD5-FFB0-4E79-91B3-742044FAE392}" type="presParOf" srcId="{A74FF97E-7200-4943-9A5B-13D208BDD317}" destId="{A8C61B89-04C1-40B8-A753-92BDABE39300}" srcOrd="2" destOrd="0" presId="urn:microsoft.com/office/officeart/2024/3/layout/SimpleTimelineDefaultVariant"/>
    <dgm:cxn modelId="{5F839379-FB72-42A4-8D77-146CB4249C83}" type="presParOf" srcId="{A74FF97E-7200-4943-9A5B-13D208BDD317}" destId="{F7F215AA-1548-4946-9818-24CE434B0257}" srcOrd="3" destOrd="0" presId="urn:microsoft.com/office/officeart/2024/3/layout/SimpleTimelineDefaultVariant"/>
    <dgm:cxn modelId="{AFAF142D-9407-418F-BDC6-7BB2FA179012}" type="presParOf" srcId="{A74FF97E-7200-4943-9A5B-13D208BDD317}" destId="{A657FCB3-50B0-4F61-A00C-56D9B387AFBF}" srcOrd="4" destOrd="0" presId="urn:microsoft.com/office/officeart/2024/3/layout/SimpleTimelineDefaultVariant"/>
    <dgm:cxn modelId="{8D521E88-E417-4880-A7C9-5690784FD0A8}" type="presParOf" srcId="{A74FF97E-7200-4943-9A5B-13D208BDD317}" destId="{7D6140CA-EF57-4603-ADAF-5E5FB81F7207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30CF46-71A7-4594-B3BE-6A57D86A7FC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52D242-AEFC-45D1-AF6B-E7FF41D04DAE}">
      <dgm:prSet/>
      <dgm:spPr/>
      <dgm:t>
        <a:bodyPr/>
        <a:lstStyle/>
        <a:p>
          <a:r>
            <a:rPr lang="es-CO" b="1"/>
            <a:t>PRIMARY KEY</a:t>
          </a:r>
          <a:r>
            <a:rPr lang="es-CO"/>
            <a:t>: identifica 1 fila (no duplicados, no nulos)</a:t>
          </a:r>
          <a:endParaRPr lang="en-US"/>
        </a:p>
      </dgm:t>
    </dgm:pt>
    <dgm:pt modelId="{7EF78FB9-763B-4B90-B8CA-A65C44DB9C92}" type="parTrans" cxnId="{E22F0734-769E-4477-975E-0BB1C5071908}">
      <dgm:prSet/>
      <dgm:spPr/>
      <dgm:t>
        <a:bodyPr/>
        <a:lstStyle/>
        <a:p>
          <a:endParaRPr lang="en-US"/>
        </a:p>
      </dgm:t>
    </dgm:pt>
    <dgm:pt modelId="{9BADE607-9AC7-4E7C-AE25-FEA5E90357F5}" type="sibTrans" cxnId="{E22F0734-769E-4477-975E-0BB1C5071908}">
      <dgm:prSet/>
      <dgm:spPr/>
      <dgm:t>
        <a:bodyPr/>
        <a:lstStyle/>
        <a:p>
          <a:endParaRPr lang="en-US"/>
        </a:p>
      </dgm:t>
    </dgm:pt>
    <dgm:pt modelId="{6B89FAEE-891C-4915-9794-3DA56CD93A23}">
      <dgm:prSet/>
      <dgm:spPr/>
      <dgm:t>
        <a:bodyPr/>
        <a:lstStyle/>
        <a:p>
          <a:r>
            <a:rPr lang="es-CO" b="1"/>
            <a:t>UNIQUE</a:t>
          </a:r>
          <a:r>
            <a:rPr lang="es-CO"/>
            <a:t>: no duplicados (pero puede permitir nulos según motor)</a:t>
          </a:r>
          <a:endParaRPr lang="en-US"/>
        </a:p>
      </dgm:t>
    </dgm:pt>
    <dgm:pt modelId="{823B9248-EC97-4FCE-8BD8-28F098598C58}" type="parTrans" cxnId="{B03052F5-77E7-4388-8962-D4AA7B05ED7E}">
      <dgm:prSet/>
      <dgm:spPr/>
      <dgm:t>
        <a:bodyPr/>
        <a:lstStyle/>
        <a:p>
          <a:endParaRPr lang="en-US"/>
        </a:p>
      </dgm:t>
    </dgm:pt>
    <dgm:pt modelId="{A9A652CD-5BF5-4C16-BEA8-9AD52819B1C6}" type="sibTrans" cxnId="{B03052F5-77E7-4388-8962-D4AA7B05ED7E}">
      <dgm:prSet/>
      <dgm:spPr/>
      <dgm:t>
        <a:bodyPr/>
        <a:lstStyle/>
        <a:p>
          <a:endParaRPr lang="en-US"/>
        </a:p>
      </dgm:t>
    </dgm:pt>
    <dgm:pt modelId="{4568F0DE-F0FE-4705-ADFC-DBB58C538EE6}">
      <dgm:prSet/>
      <dgm:spPr/>
      <dgm:t>
        <a:bodyPr/>
        <a:lstStyle/>
        <a:p>
          <a:r>
            <a:rPr lang="es-CO" b="1"/>
            <a:t>NOT NULL</a:t>
          </a:r>
          <a:r>
            <a:rPr lang="es-CO"/>
            <a:t>: no permite nulos</a:t>
          </a:r>
          <a:endParaRPr lang="en-US"/>
        </a:p>
      </dgm:t>
    </dgm:pt>
    <dgm:pt modelId="{FBB7CA99-002F-471D-84A0-C50B37A89F30}" type="parTrans" cxnId="{BFF9A590-C34C-47FF-9F7A-944E7509279C}">
      <dgm:prSet/>
      <dgm:spPr/>
      <dgm:t>
        <a:bodyPr/>
        <a:lstStyle/>
        <a:p>
          <a:endParaRPr lang="en-US"/>
        </a:p>
      </dgm:t>
    </dgm:pt>
    <dgm:pt modelId="{EA7DA39B-4898-47AC-9EF3-D7C5B211B1D2}" type="sibTrans" cxnId="{BFF9A590-C34C-47FF-9F7A-944E7509279C}">
      <dgm:prSet/>
      <dgm:spPr/>
      <dgm:t>
        <a:bodyPr/>
        <a:lstStyle/>
        <a:p>
          <a:endParaRPr lang="en-US"/>
        </a:p>
      </dgm:t>
    </dgm:pt>
    <dgm:pt modelId="{3D88D568-2CE9-435B-8627-D3EFBF1E559D}" type="pres">
      <dgm:prSet presAssocID="{7E30CF46-71A7-4594-B3BE-6A57D86A7FC6}" presName="vert0" presStyleCnt="0">
        <dgm:presLayoutVars>
          <dgm:dir/>
          <dgm:animOne val="branch"/>
          <dgm:animLvl val="lvl"/>
        </dgm:presLayoutVars>
      </dgm:prSet>
      <dgm:spPr/>
    </dgm:pt>
    <dgm:pt modelId="{A2F62B7E-9B52-4E6C-94BE-555469AC82FB}" type="pres">
      <dgm:prSet presAssocID="{2552D242-AEFC-45D1-AF6B-E7FF41D04DAE}" presName="thickLine" presStyleLbl="alignNode1" presStyleIdx="0" presStyleCnt="3"/>
      <dgm:spPr/>
    </dgm:pt>
    <dgm:pt modelId="{AAE9A475-46B0-483B-996E-78A9A14F9E5E}" type="pres">
      <dgm:prSet presAssocID="{2552D242-AEFC-45D1-AF6B-E7FF41D04DAE}" presName="horz1" presStyleCnt="0"/>
      <dgm:spPr/>
    </dgm:pt>
    <dgm:pt modelId="{253649F0-F530-449D-AD3F-1607E5CFE407}" type="pres">
      <dgm:prSet presAssocID="{2552D242-AEFC-45D1-AF6B-E7FF41D04DAE}" presName="tx1" presStyleLbl="revTx" presStyleIdx="0" presStyleCnt="3"/>
      <dgm:spPr/>
    </dgm:pt>
    <dgm:pt modelId="{10A9C8B9-978F-41E6-84B7-B20511FC3701}" type="pres">
      <dgm:prSet presAssocID="{2552D242-AEFC-45D1-AF6B-E7FF41D04DAE}" presName="vert1" presStyleCnt="0"/>
      <dgm:spPr/>
    </dgm:pt>
    <dgm:pt modelId="{54A95106-5B24-4AF2-BBB5-0FD6EEDD6DD2}" type="pres">
      <dgm:prSet presAssocID="{6B89FAEE-891C-4915-9794-3DA56CD93A23}" presName="thickLine" presStyleLbl="alignNode1" presStyleIdx="1" presStyleCnt="3"/>
      <dgm:spPr/>
    </dgm:pt>
    <dgm:pt modelId="{3D4A3D67-FFF1-40E8-9B6C-3A762F681649}" type="pres">
      <dgm:prSet presAssocID="{6B89FAEE-891C-4915-9794-3DA56CD93A23}" presName="horz1" presStyleCnt="0"/>
      <dgm:spPr/>
    </dgm:pt>
    <dgm:pt modelId="{2F8C0DBA-E6CE-4F51-B1D9-23841D602C09}" type="pres">
      <dgm:prSet presAssocID="{6B89FAEE-891C-4915-9794-3DA56CD93A23}" presName="tx1" presStyleLbl="revTx" presStyleIdx="1" presStyleCnt="3"/>
      <dgm:spPr/>
    </dgm:pt>
    <dgm:pt modelId="{D69D99E5-6252-4098-9BE2-17A9FA8A4051}" type="pres">
      <dgm:prSet presAssocID="{6B89FAEE-891C-4915-9794-3DA56CD93A23}" presName="vert1" presStyleCnt="0"/>
      <dgm:spPr/>
    </dgm:pt>
    <dgm:pt modelId="{8BD7DB80-B07D-4ED1-B1E7-2E5DB3E3F9A3}" type="pres">
      <dgm:prSet presAssocID="{4568F0DE-F0FE-4705-ADFC-DBB58C538EE6}" presName="thickLine" presStyleLbl="alignNode1" presStyleIdx="2" presStyleCnt="3"/>
      <dgm:spPr/>
    </dgm:pt>
    <dgm:pt modelId="{79AA9371-203C-4519-B3AC-571C98586EDB}" type="pres">
      <dgm:prSet presAssocID="{4568F0DE-F0FE-4705-ADFC-DBB58C538EE6}" presName="horz1" presStyleCnt="0"/>
      <dgm:spPr/>
    </dgm:pt>
    <dgm:pt modelId="{97CC050C-1FD9-4EBC-82C8-3D36DBC82B85}" type="pres">
      <dgm:prSet presAssocID="{4568F0DE-F0FE-4705-ADFC-DBB58C538EE6}" presName="tx1" presStyleLbl="revTx" presStyleIdx="2" presStyleCnt="3"/>
      <dgm:spPr/>
    </dgm:pt>
    <dgm:pt modelId="{B6442219-78E0-4D42-B27C-B5F187B3FC58}" type="pres">
      <dgm:prSet presAssocID="{4568F0DE-F0FE-4705-ADFC-DBB58C538EE6}" presName="vert1" presStyleCnt="0"/>
      <dgm:spPr/>
    </dgm:pt>
  </dgm:ptLst>
  <dgm:cxnLst>
    <dgm:cxn modelId="{8EC2522F-8A10-43F2-A1B2-39F64B603044}" type="presOf" srcId="{2552D242-AEFC-45D1-AF6B-E7FF41D04DAE}" destId="{253649F0-F530-449D-AD3F-1607E5CFE407}" srcOrd="0" destOrd="0" presId="urn:microsoft.com/office/officeart/2008/layout/LinedList"/>
    <dgm:cxn modelId="{E22F0734-769E-4477-975E-0BB1C5071908}" srcId="{7E30CF46-71A7-4594-B3BE-6A57D86A7FC6}" destId="{2552D242-AEFC-45D1-AF6B-E7FF41D04DAE}" srcOrd="0" destOrd="0" parTransId="{7EF78FB9-763B-4B90-B8CA-A65C44DB9C92}" sibTransId="{9BADE607-9AC7-4E7C-AE25-FEA5E90357F5}"/>
    <dgm:cxn modelId="{563FBB4D-8654-4989-8FDE-64FE44E562DB}" type="presOf" srcId="{4568F0DE-F0FE-4705-ADFC-DBB58C538EE6}" destId="{97CC050C-1FD9-4EBC-82C8-3D36DBC82B85}" srcOrd="0" destOrd="0" presId="urn:microsoft.com/office/officeart/2008/layout/LinedList"/>
    <dgm:cxn modelId="{E19DA273-C80A-45F2-BADA-9AB6CD34EC1D}" type="presOf" srcId="{7E30CF46-71A7-4594-B3BE-6A57D86A7FC6}" destId="{3D88D568-2CE9-435B-8627-D3EFBF1E559D}" srcOrd="0" destOrd="0" presId="urn:microsoft.com/office/officeart/2008/layout/LinedList"/>
    <dgm:cxn modelId="{031DFB8F-B13D-4B37-B09F-80ED3FE5DECF}" type="presOf" srcId="{6B89FAEE-891C-4915-9794-3DA56CD93A23}" destId="{2F8C0DBA-E6CE-4F51-B1D9-23841D602C09}" srcOrd="0" destOrd="0" presId="urn:microsoft.com/office/officeart/2008/layout/LinedList"/>
    <dgm:cxn modelId="{BFF9A590-C34C-47FF-9F7A-944E7509279C}" srcId="{7E30CF46-71A7-4594-B3BE-6A57D86A7FC6}" destId="{4568F0DE-F0FE-4705-ADFC-DBB58C538EE6}" srcOrd="2" destOrd="0" parTransId="{FBB7CA99-002F-471D-84A0-C50B37A89F30}" sibTransId="{EA7DA39B-4898-47AC-9EF3-D7C5B211B1D2}"/>
    <dgm:cxn modelId="{B03052F5-77E7-4388-8962-D4AA7B05ED7E}" srcId="{7E30CF46-71A7-4594-B3BE-6A57D86A7FC6}" destId="{6B89FAEE-891C-4915-9794-3DA56CD93A23}" srcOrd="1" destOrd="0" parTransId="{823B9248-EC97-4FCE-8BD8-28F098598C58}" sibTransId="{A9A652CD-5BF5-4C16-BEA8-9AD52819B1C6}"/>
    <dgm:cxn modelId="{53C31F2D-2F76-4D3C-B09F-5D95F5AFF788}" type="presParOf" srcId="{3D88D568-2CE9-435B-8627-D3EFBF1E559D}" destId="{A2F62B7E-9B52-4E6C-94BE-555469AC82FB}" srcOrd="0" destOrd="0" presId="urn:microsoft.com/office/officeart/2008/layout/LinedList"/>
    <dgm:cxn modelId="{0140D619-437C-4190-AD58-5CAC35C35EFA}" type="presParOf" srcId="{3D88D568-2CE9-435B-8627-D3EFBF1E559D}" destId="{AAE9A475-46B0-483B-996E-78A9A14F9E5E}" srcOrd="1" destOrd="0" presId="urn:microsoft.com/office/officeart/2008/layout/LinedList"/>
    <dgm:cxn modelId="{2DF956A8-4BAF-4B8E-AB3A-6A1150DC0839}" type="presParOf" srcId="{AAE9A475-46B0-483B-996E-78A9A14F9E5E}" destId="{253649F0-F530-449D-AD3F-1607E5CFE407}" srcOrd="0" destOrd="0" presId="urn:microsoft.com/office/officeart/2008/layout/LinedList"/>
    <dgm:cxn modelId="{362308B2-B15C-495C-810C-886F556B0F98}" type="presParOf" srcId="{AAE9A475-46B0-483B-996E-78A9A14F9E5E}" destId="{10A9C8B9-978F-41E6-84B7-B20511FC3701}" srcOrd="1" destOrd="0" presId="urn:microsoft.com/office/officeart/2008/layout/LinedList"/>
    <dgm:cxn modelId="{AB9B96A3-979E-43E9-9A16-D9DE4AA4ED87}" type="presParOf" srcId="{3D88D568-2CE9-435B-8627-D3EFBF1E559D}" destId="{54A95106-5B24-4AF2-BBB5-0FD6EEDD6DD2}" srcOrd="2" destOrd="0" presId="urn:microsoft.com/office/officeart/2008/layout/LinedList"/>
    <dgm:cxn modelId="{C8182CC3-2769-48A4-A77C-7CAB92AFB5A7}" type="presParOf" srcId="{3D88D568-2CE9-435B-8627-D3EFBF1E559D}" destId="{3D4A3D67-FFF1-40E8-9B6C-3A762F681649}" srcOrd="3" destOrd="0" presId="urn:microsoft.com/office/officeart/2008/layout/LinedList"/>
    <dgm:cxn modelId="{DF78A1E5-BB40-49C3-8556-8463D0FDEC95}" type="presParOf" srcId="{3D4A3D67-FFF1-40E8-9B6C-3A762F681649}" destId="{2F8C0DBA-E6CE-4F51-B1D9-23841D602C09}" srcOrd="0" destOrd="0" presId="urn:microsoft.com/office/officeart/2008/layout/LinedList"/>
    <dgm:cxn modelId="{861061E5-999E-4E5E-A822-B217E7493ABB}" type="presParOf" srcId="{3D4A3D67-FFF1-40E8-9B6C-3A762F681649}" destId="{D69D99E5-6252-4098-9BE2-17A9FA8A4051}" srcOrd="1" destOrd="0" presId="urn:microsoft.com/office/officeart/2008/layout/LinedList"/>
    <dgm:cxn modelId="{B0406D93-5721-433A-9539-6C78D4C6C117}" type="presParOf" srcId="{3D88D568-2CE9-435B-8627-D3EFBF1E559D}" destId="{8BD7DB80-B07D-4ED1-B1E7-2E5DB3E3F9A3}" srcOrd="4" destOrd="0" presId="urn:microsoft.com/office/officeart/2008/layout/LinedList"/>
    <dgm:cxn modelId="{55BD9B9D-6726-4086-A397-209C07B195BB}" type="presParOf" srcId="{3D88D568-2CE9-435B-8627-D3EFBF1E559D}" destId="{79AA9371-203C-4519-B3AC-571C98586EDB}" srcOrd="5" destOrd="0" presId="urn:microsoft.com/office/officeart/2008/layout/LinedList"/>
    <dgm:cxn modelId="{3EA302C7-42A1-4D0A-BA74-8074D150F483}" type="presParOf" srcId="{79AA9371-203C-4519-B3AC-571C98586EDB}" destId="{97CC050C-1FD9-4EBC-82C8-3D36DBC82B85}" srcOrd="0" destOrd="0" presId="urn:microsoft.com/office/officeart/2008/layout/LinedList"/>
    <dgm:cxn modelId="{AA3FA590-2B1B-40AE-A832-EC07BFD5E7CE}" type="presParOf" srcId="{79AA9371-203C-4519-B3AC-571C98586EDB}" destId="{B6442219-78E0-4D42-B27C-B5F187B3FC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23190" y="829551"/>
          <a:ext cx="2868289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23190" y="829551"/>
        <a:ext cx="2868289" cy="1203663"/>
      </dsp:txXfrm>
    </dsp:sp>
    <dsp:sp modelId="{01E41ACE-E33B-41B9-A714-73522D3F7C76}">
      <dsp:nvSpPr>
        <dsp:cNvPr id="0" name=""/>
        <dsp:cNvSpPr/>
      </dsp:nvSpPr>
      <dsp:spPr>
        <a:xfrm>
          <a:off x="423190" y="406643"/>
          <a:ext cx="2868289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23190" y="406643"/>
        <a:ext cx="2868289" cy="422908"/>
      </dsp:txXfrm>
    </dsp:sp>
    <dsp:sp modelId="{CEE8CE24-AD73-4777-BAB3-4A5D9CE74308}">
      <dsp:nvSpPr>
        <dsp:cNvPr id="0" name=""/>
        <dsp:cNvSpPr/>
      </dsp:nvSpPr>
      <dsp:spPr>
        <a:xfrm>
          <a:off x="211736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62111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2142944" y="3009158"/>
          <a:ext cx="2868289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2142944" y="3009158"/>
        <a:ext cx="2868289" cy="650628"/>
      </dsp:txXfrm>
    </dsp:sp>
    <dsp:sp modelId="{89EF5014-7ECE-4300-A882-B69FFA73745D}">
      <dsp:nvSpPr>
        <dsp:cNvPr id="0" name=""/>
        <dsp:cNvSpPr/>
      </dsp:nvSpPr>
      <dsp:spPr>
        <a:xfrm>
          <a:off x="2142944" y="2602515"/>
          <a:ext cx="2868289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2142944" y="2602515"/>
        <a:ext cx="2868289" cy="406643"/>
      </dsp:txXfrm>
    </dsp:sp>
    <dsp:sp modelId="{7FC7980B-78D1-4A8D-9208-76052E50D81B}">
      <dsp:nvSpPr>
        <dsp:cNvPr id="0" name=""/>
        <dsp:cNvSpPr/>
      </dsp:nvSpPr>
      <dsp:spPr>
        <a:xfrm>
          <a:off x="1931490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881865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3862698" y="829551"/>
          <a:ext cx="2868289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3862698" y="829551"/>
        <a:ext cx="2868289" cy="1203663"/>
      </dsp:txXfrm>
    </dsp:sp>
    <dsp:sp modelId="{2664027A-B5AC-41CA-A071-5DF0CF1E8120}">
      <dsp:nvSpPr>
        <dsp:cNvPr id="0" name=""/>
        <dsp:cNvSpPr/>
      </dsp:nvSpPr>
      <dsp:spPr>
        <a:xfrm>
          <a:off x="3862698" y="406643"/>
          <a:ext cx="2868289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W03</a:t>
          </a:r>
        </a:p>
      </dsp:txBody>
      <dsp:txXfrm>
        <a:off x="3862698" y="406643"/>
        <a:ext cx="2868289" cy="422908"/>
      </dsp:txXfrm>
    </dsp:sp>
    <dsp:sp modelId="{6F004247-9FD8-4E6D-9363-DE121E4356A0}">
      <dsp:nvSpPr>
        <dsp:cNvPr id="0" name=""/>
        <dsp:cNvSpPr/>
      </dsp:nvSpPr>
      <dsp:spPr>
        <a:xfrm>
          <a:off x="365124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360161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5582453" y="3009158"/>
          <a:ext cx="2868289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5582453" y="3009158"/>
        <a:ext cx="2868289" cy="650628"/>
      </dsp:txXfrm>
    </dsp:sp>
    <dsp:sp modelId="{EE41F65A-AA70-4EE3-81F3-A539EF20984B}">
      <dsp:nvSpPr>
        <dsp:cNvPr id="0" name=""/>
        <dsp:cNvSpPr/>
      </dsp:nvSpPr>
      <dsp:spPr>
        <a:xfrm>
          <a:off x="5582453" y="2602515"/>
          <a:ext cx="2868289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5582453" y="2602515"/>
        <a:ext cx="2868289" cy="406643"/>
      </dsp:txXfrm>
    </dsp:sp>
    <dsp:sp modelId="{E28909AF-007C-49D7-8958-97FF1699473D}">
      <dsp:nvSpPr>
        <dsp:cNvPr id="0" name=""/>
        <dsp:cNvSpPr/>
      </dsp:nvSpPr>
      <dsp:spPr>
        <a:xfrm>
          <a:off x="5370998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5321373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7302207" y="829551"/>
          <a:ext cx="2868289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Diseño relacional mínimo (PK/FK + llaves)</a:t>
          </a:r>
          <a:endParaRPr lang="es-CO" sz="1500" kern="1200" dirty="0"/>
        </a:p>
      </dsp:txBody>
      <dsp:txXfrm>
        <a:off x="7302207" y="829551"/>
        <a:ext cx="2868289" cy="1203663"/>
      </dsp:txXfrm>
    </dsp:sp>
    <dsp:sp modelId="{F7F215AA-1548-4946-9818-24CE434B0257}">
      <dsp:nvSpPr>
        <dsp:cNvPr id="0" name=""/>
        <dsp:cNvSpPr/>
      </dsp:nvSpPr>
      <dsp:spPr>
        <a:xfrm>
          <a:off x="7302207" y="406643"/>
          <a:ext cx="2868289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Hoy</a:t>
          </a:r>
        </a:p>
      </dsp:txBody>
      <dsp:txXfrm>
        <a:off x="7302207" y="406643"/>
        <a:ext cx="2868289" cy="422908"/>
      </dsp:txXfrm>
    </dsp:sp>
    <dsp:sp modelId="{A657FCB3-50B0-4F61-A00C-56D9B387AFBF}">
      <dsp:nvSpPr>
        <dsp:cNvPr id="0" name=""/>
        <dsp:cNvSpPr/>
      </dsp:nvSpPr>
      <dsp:spPr>
        <a:xfrm>
          <a:off x="7090752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7041127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62B7E-9B52-4E6C-94BE-555469AC82FB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649F0-F530-449D-AD3F-1607E5CFE407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PRIMARY KEY</a:t>
          </a:r>
          <a:r>
            <a:rPr lang="es-CO" sz="3700" kern="1200"/>
            <a:t>: identifica 1 fila (no duplicados, no nulos)</a:t>
          </a:r>
          <a:endParaRPr lang="en-US" sz="3700" kern="1200"/>
        </a:p>
      </dsp:txBody>
      <dsp:txXfrm>
        <a:off x="0" y="2700"/>
        <a:ext cx="6291714" cy="1841777"/>
      </dsp:txXfrm>
    </dsp:sp>
    <dsp:sp modelId="{54A95106-5B24-4AF2-BBB5-0FD6EEDD6DD2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C0DBA-E6CE-4F51-B1D9-23841D602C09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UNIQUE</a:t>
          </a:r>
          <a:r>
            <a:rPr lang="es-CO" sz="3700" kern="1200"/>
            <a:t>: no duplicados (pero puede permitir nulos según motor)</a:t>
          </a:r>
          <a:endParaRPr lang="en-US" sz="3700" kern="1200"/>
        </a:p>
      </dsp:txBody>
      <dsp:txXfrm>
        <a:off x="0" y="1844478"/>
        <a:ext cx="6291714" cy="1841777"/>
      </dsp:txXfrm>
    </dsp:sp>
    <dsp:sp modelId="{8BD7DB80-B07D-4ED1-B1E7-2E5DB3E3F9A3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C050C-1FD9-4EBC-82C8-3D36DBC82B85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NOT NULL</a:t>
          </a:r>
          <a:r>
            <a:rPr lang="es-CO" sz="3700" kern="1200"/>
            <a:t>: no permite nulos</a:t>
          </a:r>
          <a:endParaRPr lang="en-US" sz="3700" kern="1200"/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32C8-E2D6-4D2E-89CE-FD02DE040E4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14E97-D0B4-4B97-B291-5A38DFDD3C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15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convertimos el modelo en un ‘contrato ejecutable’: llaves, relaciones y evidencia.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947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Antes de hablar de PK/FK, el requisito es saber qué significa cada fila.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59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En analítica, </a:t>
            </a:r>
            <a:r>
              <a:rPr lang="es-CO" dirty="0" err="1"/>
              <a:t>surrogate</a:t>
            </a:r>
            <a:r>
              <a:rPr lang="es-CO" dirty="0"/>
              <a:t> </a:t>
            </a:r>
            <a:r>
              <a:rPr lang="es-CO" dirty="0" err="1"/>
              <a:t>keys</a:t>
            </a:r>
            <a:r>
              <a:rPr lang="es-CO" dirty="0"/>
              <a:t> son estándar. Kimball lo justifica por integración y performance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9595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 es teoría por teoría: estas reglas son parte del contrato.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 err="1"/>
              <a:t>DuckDB</a:t>
            </a:r>
            <a:r>
              <a:rPr lang="es-CO" dirty="0"/>
              <a:t> </a:t>
            </a:r>
            <a:r>
              <a:rPr lang="es-CO" dirty="0" err="1"/>
              <a:t>constraints</a:t>
            </a:r>
            <a:r>
              <a:rPr lang="es-CO" dirty="0"/>
              <a:t> (</a:t>
            </a:r>
            <a:r>
              <a:rPr lang="es-CO" dirty="0" err="1"/>
              <a:t>doc</a:t>
            </a:r>
            <a:r>
              <a:rPr lang="es-CO" dirty="0"/>
              <a:t> oficial). 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06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convierte ‘</a:t>
            </a:r>
            <a:r>
              <a:rPr lang="es-CO" dirty="0" err="1"/>
              <a:t>hostname</a:t>
            </a:r>
            <a:r>
              <a:rPr lang="es-CO" dirty="0"/>
              <a:t>’ en una dimensión con llave estable y verificable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1164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“FK es ‘seguro’, </a:t>
            </a:r>
            <a:r>
              <a:rPr lang="es-CO" dirty="0" err="1"/>
              <a:t>anti-join</a:t>
            </a:r>
            <a:r>
              <a:rPr lang="es-CO" dirty="0"/>
              <a:t> es ‘prueba’. En ingeniería queremos ambos: regla + evidencia.”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843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F4B8-EE23-FECF-E2AB-59B25D0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2D1FFE-6F76-DBD7-A4E8-064FD3822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71C9C9-4ABB-6374-7F5A-5AEC24FB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Esta es la prueba de salud del modelo: si </a:t>
            </a:r>
            <a:r>
              <a:rPr lang="es-CO" dirty="0" err="1"/>
              <a:t>orphan_rows</a:t>
            </a:r>
            <a:r>
              <a:rPr lang="es-CO" dirty="0"/>
              <a:t> &gt; 0, no hay confianza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BA05C0-54B8-B69E-AEFC-AA5431926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31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8D54-DD0F-B3A7-C248-6879E11F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4C9A48-CF0B-9AB0-C225-44B6A4D9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C3A40C-CECD-45A9-E92F-9A7F4E092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importante no es el error: es ver que el sistema </a:t>
            </a:r>
            <a:r>
              <a:rPr lang="es-ES" i="1" dirty="0"/>
              <a:t>rechaza</a:t>
            </a:r>
            <a:r>
              <a:rPr lang="es-ES" dirty="0"/>
              <a:t> datos incoherentes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937A7A-86FD-F5F5-4880-4D03A5E07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2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CEAB5-E302-B226-7C78-BA0A34DC7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6EA367-DE39-B043-7CD7-E42888673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5724F8-C721-AAFB-EAA5-A0C935F0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AB7A6-A7FB-0E56-E3A9-7B1BB0D7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322FA5-5D17-8A5D-44B3-AAF1760F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469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5A47-6B1D-8496-83BF-DD15A7DC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41B74D-879C-2D98-C529-D9235B60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5CA7C-6189-28ED-7A84-9E184E8A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AFB182-8539-D833-5344-ADAD8A58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51D627-38CE-CAB7-BDC9-30B1BAA0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338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0445D-E792-15A8-CF24-7F38574B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3D155F-3E8E-83F7-91C7-FE3EB39C4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0343E6-8D0E-ED9A-DEB8-16F98719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3FFC6-54F6-4663-AC2C-9AA33B49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C02E3-F0B1-F1C5-DC11-59000A6C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24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42D95-5F47-C9D2-15FB-48AEA692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58D6A3-4179-0470-0D74-A2B732ACA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C73BC5-C4DA-FB41-AF02-BBF3AE11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1DE223-81B5-6EFF-D828-C04921AE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E6672-86FB-6F03-8B15-EEFA7AC5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9DF75C-6562-FD64-7C87-5454494B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103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0BC64-BE74-47A0-6DD9-015922DD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379F4-D345-BC4A-692A-017B9CF2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C3F6F9-CEC9-9DA2-EF98-27A6945F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B0043F-3006-C8A9-AE50-75FD21B82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C33904-7B16-5C51-EE11-E88B0C01C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C77A98-2D26-E517-E06C-D793E7DB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1C4979-5E7F-97D4-68FD-5C87E2BB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005784-0533-D2E3-580D-F033CCA6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17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6EC5E-1C1F-E8CB-50E9-0FA7D9D3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3D680A-C771-7A87-E8C1-37EB9E94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2DFC28-FC46-FCDB-F66D-299F7274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25CEA3-3459-7CAD-37F4-9C03B606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230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3B945E-B876-E927-738F-71A35A76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4D970F-6571-D0C0-B84A-FFA03FCAF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1E5B91-18C8-D780-45B3-E5A8E316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828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D61F9-58B0-1E24-AA43-4F60DB10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62DC9-7FAA-D053-EDB4-AD406D60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BF8D33-5845-ABE2-53AC-AD1A0DFD9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A96B0D-3B22-BA0A-54CE-4954BB4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BCAF86-B801-8848-1052-88C8CE1B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52B399-793B-5C38-A606-4A654E5C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066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AA22C-40AA-E2D1-7DED-83A7A9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77AE73-D814-3766-D2B5-AE8D5FA12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05BB0-AD62-7CC8-D8FA-543344D59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CFCEA8-3A81-332D-9319-9D0ABB5E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8916C4-2F6C-BF25-9BD1-DE428BFB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C0D48E-FF17-03F5-1916-8FC2805D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9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0035E-BBC8-6F05-C558-B880DC5F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7890F3-C393-4045-6C0A-9A6596D7D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2FE008-E1D9-6DE3-6AB5-AC5EEE0C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0CA34-7588-2861-ED42-E659C823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24C6F7-597B-5B35-9366-31070D85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544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D10F6B-5D7F-4AC8-ED4D-02264F654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04C7D0-89A5-C33B-6425-E361185CA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774D5-D44E-67B0-74DF-46E3A807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D9BE-67D9-F0F5-475D-BF65A80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62B39F-858F-2E3E-52E4-DD2A40F4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546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BB5C79-5AC2-2A32-8F62-894EABFF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DCF1D0-C105-F2B9-261C-D3A3F0CF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11697-8F92-251E-D228-A94FD7155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03C1B-2226-4B35-84FD-6BE56F4CF1DA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CD5FF-DF3F-7CD0-EEE1-CA6D22F1B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75D149-9F11-A5BC-B3A4-C64124582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81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ntermediate SQL | Chemeketa Community College">
            <a:extLst>
              <a:ext uri="{FF2B5EF4-FFF2-40B4-BE49-F238E27FC236}">
                <a16:creationId xmlns:a16="http://schemas.microsoft.com/office/drawing/2014/main" id="{08A256AE-58E3-602B-2601-7A138CAD1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B27119-C3F4-5500-2410-A4A34B760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10515600" cy="2900518"/>
          </a:xfrm>
        </p:spPr>
        <p:txBody>
          <a:bodyPr>
            <a:normAutofit/>
          </a:bodyPr>
          <a:lstStyle/>
          <a:p>
            <a:r>
              <a:rPr lang="es-CO" sz="4400" dirty="0">
                <a:solidFill>
                  <a:srgbClr val="FFFFFF"/>
                </a:solidFill>
              </a:rPr>
              <a:t>PK/FK + </a:t>
            </a:r>
            <a:r>
              <a:rPr lang="es-CO" sz="4400" dirty="0" err="1">
                <a:solidFill>
                  <a:srgbClr val="FFFFFF"/>
                </a:solidFill>
              </a:rPr>
              <a:t>Surrogate</a:t>
            </a:r>
            <a:r>
              <a:rPr lang="es-CO" sz="4400" dirty="0">
                <a:solidFill>
                  <a:srgbClr val="FFFFFF"/>
                </a:solidFill>
              </a:rPr>
              <a:t> </a:t>
            </a:r>
            <a:r>
              <a:rPr lang="es-CO" sz="4400" dirty="0" err="1">
                <a:solidFill>
                  <a:srgbClr val="FFFFFF"/>
                </a:solidFill>
              </a:rPr>
              <a:t>Keys</a:t>
            </a:r>
            <a:r>
              <a:rPr lang="es-CO" sz="4400" dirty="0">
                <a:solidFill>
                  <a:srgbClr val="FFFFFF"/>
                </a:solidFill>
              </a:rPr>
              <a:t> + </a:t>
            </a:r>
            <a:r>
              <a:rPr lang="es-CO" sz="4400" dirty="0" err="1">
                <a:solidFill>
                  <a:srgbClr val="FFFFFF"/>
                </a:solidFill>
              </a:rPr>
              <a:t>Star</a:t>
            </a:r>
            <a:r>
              <a:rPr lang="es-CO" sz="4400" dirty="0">
                <a:solidFill>
                  <a:srgbClr val="FFFFFF"/>
                </a:solidFill>
              </a:rPr>
              <a:t> </a:t>
            </a:r>
            <a:r>
              <a:rPr lang="es-CO" sz="4400" dirty="0" err="1">
                <a:solidFill>
                  <a:srgbClr val="FFFFFF"/>
                </a:solidFill>
              </a:rPr>
              <a:t>Schema</a:t>
            </a:r>
            <a:r>
              <a:rPr lang="es-CO" sz="4400" dirty="0">
                <a:solidFill>
                  <a:srgbClr val="FFFFFF"/>
                </a:solidFill>
              </a:rPr>
              <a:t> (</a:t>
            </a:r>
            <a:r>
              <a:rPr lang="es-CO" sz="4400" dirty="0" err="1">
                <a:solidFill>
                  <a:srgbClr val="FFFFFF"/>
                </a:solidFill>
              </a:rPr>
              <a:t>DuckDB</a:t>
            </a:r>
            <a:r>
              <a:rPr lang="es-CO" sz="44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83642-C3AC-CAFC-44AF-D1B4380DEA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10199" y="4588578"/>
            <a:ext cx="615253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Definir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grain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(qué significa una fila)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Pasar de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hostname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host_id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Validar integridad con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evidencia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orphan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check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EADA9-30E1-FE7E-933C-3D59A6DA6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grain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(qué significa una fila)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Pasar de 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hostname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host_id</a:t>
            </a:r>
            <a:endParaRPr kumimoji="0" lang="es-CO" altLang="es-CO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 integridad con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evidencia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(orphan check)</a:t>
            </a:r>
          </a:p>
        </p:txBody>
      </p:sp>
    </p:spTree>
    <p:extLst>
      <p:ext uri="{BB962C8B-B14F-4D97-AF65-F5344CB8AC3E}">
        <p14:creationId xmlns:p14="http://schemas.microsoft.com/office/powerpoint/2010/main" val="404873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20644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91149E-40B3-F2E1-C62D-3F35B8E8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b="1"/>
              <a:t>Grain (la idea más importante del día)</a:t>
            </a:r>
            <a:endParaRPr lang="es-CO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3A02B-A088-74CD-F554-2BF1CDEA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/>
              <a:t>Grain = qué representa una fila</a:t>
            </a:r>
            <a:endParaRPr lang="es-ES" sz="2000"/>
          </a:p>
          <a:p>
            <a:pPr marL="0" indent="0">
              <a:buNone/>
            </a:pPr>
            <a:r>
              <a:rPr lang="es-ES" sz="2000"/>
              <a:t>En nuestro Core:</a:t>
            </a:r>
          </a:p>
          <a:p>
            <a:r>
              <a:rPr lang="es-CO" sz="2000">
                <a:latin typeface="Consolas" panose="020B0609020204030204" pitchFamily="49" charset="0"/>
              </a:rPr>
              <a:t>fact_planet</a:t>
            </a:r>
            <a:r>
              <a:rPr lang="es-CO" sz="2000"/>
              <a:t>: </a:t>
            </a:r>
            <a:r>
              <a:rPr lang="es-CO" sz="2000" b="1"/>
              <a:t>1 fila ~ 1 planeta</a:t>
            </a:r>
            <a:r>
              <a:rPr lang="es-CO" sz="2000"/>
              <a:t> (identificado por </a:t>
            </a:r>
            <a:r>
              <a:rPr lang="es-CO" sz="2000">
                <a:latin typeface="Consolas" panose="020B0609020204030204" pitchFamily="49" charset="0"/>
              </a:rPr>
              <a:t>pl_name</a:t>
            </a:r>
            <a:r>
              <a:rPr lang="es-CO" sz="2000"/>
              <a:t>)</a:t>
            </a:r>
          </a:p>
          <a:p>
            <a:r>
              <a:rPr lang="es-CO" sz="2000">
                <a:latin typeface="Consolas" panose="020B0609020204030204" pitchFamily="49" charset="0"/>
              </a:rPr>
              <a:t>dim_host</a:t>
            </a:r>
            <a:r>
              <a:rPr lang="es-CO" sz="2000"/>
              <a:t>: </a:t>
            </a:r>
            <a:r>
              <a:rPr lang="es-CO" sz="2000" b="1"/>
              <a:t>1 fila ~ 1 estrella anfitriona</a:t>
            </a:r>
            <a:r>
              <a:rPr lang="es-CO" sz="2000"/>
              <a:t> (identificada por </a:t>
            </a:r>
            <a:r>
              <a:rPr lang="es-CO" sz="2000">
                <a:latin typeface="Consolas" panose="020B0609020204030204" pitchFamily="49" charset="0"/>
              </a:rPr>
              <a:t>hostname</a:t>
            </a:r>
            <a:r>
              <a:rPr lang="es-CO" sz="2000"/>
              <a:t>).</a:t>
            </a:r>
          </a:p>
          <a:p>
            <a:endParaRPr lang="es-CO" sz="2000"/>
          </a:p>
        </p:txBody>
      </p:sp>
      <p:pic>
        <p:nvPicPr>
          <p:cNvPr id="5" name="Picture 4" descr="Laberinto circular">
            <a:extLst>
              <a:ext uri="{FF2B5EF4-FFF2-40B4-BE49-F238E27FC236}">
                <a16:creationId xmlns:a16="http://schemas.microsoft.com/office/drawing/2014/main" id="{70248B99-8422-E3F1-C12F-9C21FA05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5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5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8AF0A17-96FA-6E7A-B7CB-7072C102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Identificadores únicos del </a:t>
            </a:r>
            <a:r>
              <a:rPr lang="es-CO" dirty="0" err="1"/>
              <a:t>Grain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89E488-A0C9-A1A7-3680-7DDCE94E6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Natural Key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800BFB-6814-F68D-6BA2-D1D04B278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41710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Es una clave que ya existe en los datos del mundo real y que tiene significado propio.</a:t>
            </a:r>
          </a:p>
          <a:p>
            <a:r>
              <a:rPr lang="es-ES" dirty="0"/>
              <a:t>Proviene del contexto.</a:t>
            </a:r>
          </a:p>
          <a:p>
            <a:r>
              <a:rPr lang="es-ES" dirty="0"/>
              <a:t>Es única por naturaleza.</a:t>
            </a:r>
          </a:p>
          <a:p>
            <a:r>
              <a:rPr lang="es-ES" dirty="0"/>
              <a:t>Tiene significado para humanos.</a:t>
            </a:r>
          </a:p>
          <a:p>
            <a:r>
              <a:rPr lang="es-ES" dirty="0"/>
              <a:t>Puede cambiar (aunque idealmente no debería).</a:t>
            </a:r>
          </a:p>
          <a:p>
            <a:pPr marL="0" indent="0">
              <a:buNone/>
            </a:pPr>
            <a:r>
              <a:rPr lang="es-ES" b="1" dirty="0"/>
              <a:t>🧠 Ventajas</a:t>
            </a:r>
          </a:p>
          <a:p>
            <a:r>
              <a:rPr lang="es-ES" dirty="0"/>
              <a:t>Más fácil de entender para humanos.</a:t>
            </a:r>
          </a:p>
          <a:p>
            <a:r>
              <a:rPr lang="es-ES" dirty="0"/>
              <a:t>Evita duplicidad si el negocio ya garantiza unicidad.</a:t>
            </a:r>
          </a:p>
          <a:p>
            <a:pPr marL="0" indent="0">
              <a:buNone/>
            </a:pPr>
            <a:r>
              <a:rPr lang="es-ES" b="1" dirty="0"/>
              <a:t>⚠️ Desventajas</a:t>
            </a:r>
          </a:p>
          <a:p>
            <a:r>
              <a:rPr lang="es-ES" dirty="0"/>
              <a:t>Si cambia, actualizarlo es costoso.</a:t>
            </a:r>
          </a:p>
          <a:p>
            <a:r>
              <a:rPr lang="es-ES" dirty="0"/>
              <a:t>Puede ser largo o compuesto (varias columnas).</a:t>
            </a:r>
          </a:p>
          <a:p>
            <a:r>
              <a:rPr lang="es-ES" dirty="0"/>
              <a:t>Puede tener ambigüedades o inconsistencias en el tiempo</a:t>
            </a:r>
          </a:p>
          <a:p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6FFE64E-6BE0-B60B-03EF-B02785D0C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 err="1"/>
              <a:t>Surrogate</a:t>
            </a:r>
            <a:r>
              <a:rPr lang="es-CO" dirty="0"/>
              <a:t> Key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115030E-B0B4-5C14-4FD7-4557E99FBE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Es una clave </a:t>
            </a:r>
            <a:r>
              <a:rPr lang="es-ES" b="1" dirty="0"/>
              <a:t>creada artificialmente por la base de datos</a:t>
            </a:r>
            <a:r>
              <a:rPr lang="es-ES" dirty="0"/>
              <a:t>, sin significado en el mundo real.</a:t>
            </a:r>
          </a:p>
          <a:p>
            <a:r>
              <a:rPr lang="es-ES" dirty="0"/>
              <a:t>No tiene significado para humanos.</a:t>
            </a:r>
          </a:p>
          <a:p>
            <a:r>
              <a:rPr lang="es-ES" dirty="0"/>
              <a:t>Nunca cambia.</a:t>
            </a:r>
          </a:p>
          <a:p>
            <a:r>
              <a:rPr lang="es-ES" dirty="0"/>
              <a:t>Suele ser un número entero </a:t>
            </a:r>
            <a:r>
              <a:rPr lang="es-ES" dirty="0" err="1"/>
              <a:t>autoincremental</a:t>
            </a:r>
            <a:r>
              <a:rPr lang="es-ES" dirty="0"/>
              <a:t> o un UUID.</a:t>
            </a:r>
          </a:p>
          <a:p>
            <a:pPr marL="0" indent="0">
              <a:buNone/>
            </a:pPr>
            <a:r>
              <a:rPr lang="es-ES" b="1" dirty="0"/>
              <a:t>🧠 Ventajas</a:t>
            </a:r>
          </a:p>
          <a:p>
            <a:r>
              <a:rPr lang="es-ES" dirty="0"/>
              <a:t>Nunca cambia → estabilidad total.</a:t>
            </a:r>
          </a:p>
          <a:p>
            <a:r>
              <a:rPr lang="es-ES" dirty="0"/>
              <a:t>Más eficiente para índices y </a:t>
            </a:r>
            <a:r>
              <a:rPr lang="es-ES" dirty="0" err="1"/>
              <a:t>joins</a:t>
            </a:r>
            <a:r>
              <a:rPr lang="es-ES" dirty="0"/>
              <a:t>.</a:t>
            </a:r>
          </a:p>
          <a:p>
            <a:r>
              <a:rPr lang="es-ES" dirty="0"/>
              <a:t>Simplifica relaciones complejas.</a:t>
            </a:r>
          </a:p>
          <a:p>
            <a:pPr marL="0" indent="0">
              <a:buNone/>
            </a:pPr>
            <a:r>
              <a:rPr lang="es-ES" b="1" dirty="0"/>
              <a:t>⚠️ Desventajas</a:t>
            </a:r>
          </a:p>
          <a:p>
            <a:r>
              <a:rPr lang="es-ES" dirty="0"/>
              <a:t>No evita duplicados por sí solo.</a:t>
            </a:r>
          </a:p>
          <a:p>
            <a:r>
              <a:rPr lang="es-ES" dirty="0"/>
              <a:t>Necesitas reglas adicionales (</a:t>
            </a:r>
            <a:r>
              <a:rPr lang="es-ES" dirty="0" err="1"/>
              <a:t>unique</a:t>
            </a:r>
            <a:r>
              <a:rPr lang="es-ES" dirty="0"/>
              <a:t> </a:t>
            </a:r>
            <a:r>
              <a:rPr lang="es-ES" dirty="0" err="1"/>
              <a:t>constraints</a:t>
            </a:r>
            <a:r>
              <a:rPr lang="es-ES" dirty="0"/>
              <a:t>).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5748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B2A8E2-B550-5DC6-7CA8-3F191AC89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CO" b="1">
                <a:solidFill>
                  <a:srgbClr val="FFFFFF"/>
                </a:solidFill>
              </a:rPr>
              <a:t>PK, UNIQUE, NOT NULL</a:t>
            </a:r>
            <a:endParaRPr lang="es-CO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D4422B5-2ECD-5690-0993-2824BBFF5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54205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1917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8CF381A-04A0-BBE8-9644-10BB444A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1</a:t>
            </a:r>
          </a:p>
        </p:txBody>
      </p:sp>
    </p:spTree>
    <p:extLst>
      <p:ext uri="{BB962C8B-B14F-4D97-AF65-F5344CB8AC3E}">
        <p14:creationId xmlns:p14="http://schemas.microsoft.com/office/powerpoint/2010/main" val="170676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8D4915-1D84-0751-EC91-F9C17AE5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s-CO" sz="3900" b="1"/>
              <a:t>FOREIGN KEY (qué garantiza y por qué importa)</a:t>
            </a:r>
            <a:endParaRPr lang="es-CO" sz="39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E5A91-0777-9000-CEBB-78FA1D2C4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s-CO" sz="2000" b="1">
                <a:solidFill>
                  <a:schemeClr val="tx1">
                    <a:alpha val="80000"/>
                  </a:schemeClr>
                </a:solidFill>
              </a:rPr>
              <a:t>FK</a:t>
            </a:r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: cada host_id en fact debe existir en dim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Sin FK → “planetas huérfanos” → métricas falsas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Check mínimo equivalente (si no usas constraints):</a:t>
            </a:r>
          </a:p>
          <a:p>
            <a:pPr lvl="1"/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anti-join huérfanos = 0</a:t>
            </a:r>
          </a:p>
        </p:txBody>
      </p:sp>
      <p:sp>
        <p:nvSpPr>
          <p:cNvPr id="2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66BBE29-2B03-370A-1CA9-B5B37370873B}"/>
              </a:ext>
            </a:extLst>
          </p:cNvPr>
          <p:cNvGrpSpPr/>
          <p:nvPr/>
        </p:nvGrpSpPr>
        <p:grpSpPr>
          <a:xfrm>
            <a:off x="7572653" y="2940006"/>
            <a:ext cx="3548404" cy="1630157"/>
            <a:chOff x="2153265" y="3982065"/>
            <a:chExt cx="4965290" cy="2281084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1C52D3D-3EEB-532A-ED30-60CD542ABA90}"/>
                </a:ext>
              </a:extLst>
            </p:cNvPr>
            <p:cNvSpPr txBox="1"/>
            <p:nvPr/>
          </p:nvSpPr>
          <p:spPr>
            <a:xfrm>
              <a:off x="2153265" y="4731463"/>
              <a:ext cx="17501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49224">
                <a:spcAft>
                  <a:spcPts val="600"/>
                </a:spcAft>
              </a:pPr>
              <a:r>
                <a:rPr lang="es-CO" sz="2556" kern="120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rPr>
                <a:t>host_id</a:t>
              </a:r>
              <a:r>
                <a:rPr lang="es-CO" sz="2556" kern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rPr>
                <a:t> </a:t>
              </a:r>
              <a:endParaRPr lang="es-CO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Signo de multiplicación 14">
              <a:extLst>
                <a:ext uri="{FF2B5EF4-FFF2-40B4-BE49-F238E27FC236}">
                  <a16:creationId xmlns:a16="http://schemas.microsoft.com/office/drawing/2014/main" id="{B21CB12F-4953-5F2C-EA7D-84660591BFC3}"/>
                </a:ext>
              </a:extLst>
            </p:cNvPr>
            <p:cNvSpPr/>
            <p:nvPr/>
          </p:nvSpPr>
          <p:spPr>
            <a:xfrm>
              <a:off x="5073445" y="3982065"/>
              <a:ext cx="2045110" cy="2281084"/>
            </a:xfrm>
            <a:prstGeom prst="mathMultiply">
              <a:avLst>
                <a:gd name="adj1" fmla="val 10539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441ACA93-687C-D1EC-1112-562161FF7FF0}"/>
              </a:ext>
            </a:extLst>
          </p:cNvPr>
          <p:cNvSpPr/>
          <p:nvPr/>
        </p:nvSpPr>
        <p:spPr>
          <a:xfrm>
            <a:off x="8841403" y="3573659"/>
            <a:ext cx="1120878" cy="36379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575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8CD89-31DE-0B8A-9EFA-F514F5BD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2382D5DD-C742-9377-DD68-E7D78B3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C8D9FBE3-F281-5108-AB2E-6CBE27976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F7CE4344-D294-48E1-A07B-6D04502B6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FF7C19-A753-600D-F2C2-DD40D9D6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5EBFBF37-2DBE-F11A-CFF7-659834BFF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93E2A3-8B39-5DCE-EA05-A1CA8A5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0217D0-752C-2C23-3C84-1A66689B8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5C8F925-DC43-3AF2-5664-3E9B7F19E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50C7D16-E95A-E3DE-8E5F-D36F4189C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3B34-2DC2-4533-A5F3-DCAECDCB6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5F874CE-D7AF-A4C4-AD6B-A60271DE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2</a:t>
            </a:r>
          </a:p>
        </p:txBody>
      </p:sp>
    </p:spTree>
    <p:extLst>
      <p:ext uri="{BB962C8B-B14F-4D97-AF65-F5344CB8AC3E}">
        <p14:creationId xmlns:p14="http://schemas.microsoft.com/office/powerpoint/2010/main" val="259890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092FE-EFD3-28AC-06C4-FACAAC45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Desglosando Demo 2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BFC75-ADEB-5E4C-6036-4B18D5F16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sz="2400" dirty="0" err="1">
                <a:latin typeface="Consolas" panose="020B0609020204030204" pitchFamily="49" charset="0"/>
              </a:rPr>
              <a:t>host_id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FFC000"/>
                </a:solidFill>
                <a:latin typeface="Consolas" panose="020B0609020204030204" pitchFamily="49" charset="0"/>
              </a:rPr>
              <a:t>INTEGER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0070C0"/>
                </a:solidFill>
                <a:latin typeface="Consolas" panose="020B0609020204030204" pitchFamily="49" charset="0"/>
              </a:rPr>
              <a:t>NOT NULL REFERENCES </a:t>
            </a:r>
            <a:r>
              <a:rPr lang="es-CO" sz="2400" dirty="0" err="1">
                <a:latin typeface="Consolas" panose="020B0609020204030204" pitchFamily="49" charset="0"/>
              </a:rPr>
              <a:t>dim_host_sk</a:t>
            </a:r>
            <a:r>
              <a:rPr lang="es-CO" sz="2400" dirty="0">
                <a:latin typeface="Consolas" panose="020B0609020204030204" pitchFamily="49" charset="0"/>
              </a:rPr>
              <a:t>(</a:t>
            </a:r>
            <a:r>
              <a:rPr lang="es-CO" sz="2400" dirty="0" err="1">
                <a:latin typeface="Consolas" panose="020B0609020204030204" pitchFamily="49" charset="0"/>
              </a:rPr>
              <a:t>host_id</a:t>
            </a:r>
            <a:r>
              <a:rPr lang="es-CO" sz="2400" dirty="0">
                <a:latin typeface="Consolas" panose="020B0609020204030204" pitchFamily="49" charset="0"/>
              </a:rPr>
              <a:t>)</a:t>
            </a:r>
          </a:p>
          <a:p>
            <a:r>
              <a:rPr lang="es-ES" dirty="0" err="1">
                <a:latin typeface="Consolas" panose="020B0609020204030204" pitchFamily="49" charset="0"/>
              </a:rPr>
              <a:t>fact_planet_sk.host_id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b="1" dirty="0"/>
              <a:t>solo puede contener valores que existan previamente</a:t>
            </a:r>
            <a:r>
              <a:rPr lang="es-ES" dirty="0"/>
              <a:t> en </a:t>
            </a:r>
            <a:r>
              <a:rPr lang="es-ES" dirty="0" err="1">
                <a:latin typeface="Consolas" panose="020B0609020204030204" pitchFamily="49" charset="0"/>
              </a:rPr>
              <a:t>dim_host_sk.host_id</a:t>
            </a:r>
            <a:r>
              <a:rPr lang="es-ES" dirty="0">
                <a:latin typeface="Consolas" panose="020B0609020204030204" pitchFamily="49" charset="0"/>
              </a:rPr>
              <a:t>.</a:t>
            </a:r>
          </a:p>
          <a:p>
            <a:r>
              <a:rPr lang="es-ES" dirty="0"/>
              <a:t>Si intentas insertar un </a:t>
            </a:r>
            <a:r>
              <a:rPr lang="es-ES" dirty="0" err="1"/>
              <a:t>host_id</a:t>
            </a:r>
            <a:r>
              <a:rPr lang="es-ES" dirty="0"/>
              <a:t> que no existe en la tabla de dimensión → </a:t>
            </a:r>
            <a:r>
              <a:rPr lang="es-ES" b="1" dirty="0"/>
              <a:t>error</a:t>
            </a:r>
            <a:r>
              <a:rPr lang="es-ES" dirty="0"/>
              <a:t>.</a:t>
            </a:r>
          </a:p>
          <a:p>
            <a:r>
              <a:rPr lang="es-ES" dirty="0"/>
              <a:t>Esto garantiza </a:t>
            </a:r>
            <a:r>
              <a:rPr lang="es-ES" b="1" dirty="0"/>
              <a:t>integridad referencial</a:t>
            </a:r>
            <a:r>
              <a:rPr lang="es-ES" dirty="0"/>
              <a:t>: cada planeta debe tener un host válido.</a:t>
            </a:r>
          </a:p>
          <a:p>
            <a:r>
              <a:rPr lang="es-ES" dirty="0"/>
              <a:t>En términos de Data </a:t>
            </a:r>
            <a:r>
              <a:rPr lang="es-ES" dirty="0" err="1"/>
              <a:t>Warehouse</a:t>
            </a:r>
            <a:r>
              <a:rPr lang="es-ES" dirty="0"/>
              <a:t>:</a:t>
            </a:r>
          </a:p>
          <a:p>
            <a:pPr lvl="1"/>
            <a:r>
              <a:rPr lang="es-ES" dirty="0" err="1"/>
              <a:t>dim_host_sk</a:t>
            </a:r>
            <a:r>
              <a:rPr lang="es-ES" dirty="0"/>
              <a:t> = tabla de dimensión (catálogo de estrellas/hosts)</a:t>
            </a:r>
          </a:p>
          <a:p>
            <a:pPr lvl="1"/>
            <a:r>
              <a:rPr lang="es-ES" dirty="0" err="1"/>
              <a:t>fact_planet_sk</a:t>
            </a:r>
            <a:r>
              <a:rPr lang="es-ES" dirty="0"/>
              <a:t> = tabla de hechos (planetas observados)</a:t>
            </a:r>
          </a:p>
          <a:p>
            <a:pPr lvl="1"/>
            <a:r>
              <a:rPr lang="es-ES" dirty="0"/>
              <a:t>La FK asegura que </a:t>
            </a:r>
            <a:r>
              <a:rPr lang="es-ES" b="1" dirty="0"/>
              <a:t>cada hecho apunta a una dimensión existente</a:t>
            </a:r>
            <a:r>
              <a:rPr lang="es-ES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0917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57995-DFF2-8C16-0889-585763E0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Además…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9CE9F5-2C5E-2D6D-FB32-D2FF8116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JOIN garantiza que:</a:t>
            </a:r>
          </a:p>
          <a:p>
            <a:pPr lvl="1"/>
            <a:r>
              <a:rPr lang="es-ES" dirty="0"/>
              <a:t>Solo se insertan planetas cuyo </a:t>
            </a:r>
            <a:r>
              <a:rPr lang="es-ES" dirty="0" err="1">
                <a:latin typeface="Consolas" panose="020B0609020204030204" pitchFamily="49" charset="0"/>
              </a:rPr>
              <a:t>hostname</a:t>
            </a:r>
            <a:r>
              <a:rPr lang="es-ES" dirty="0"/>
              <a:t> existe en la dimensión.</a:t>
            </a:r>
          </a:p>
          <a:p>
            <a:pPr lvl="1"/>
            <a:r>
              <a:rPr lang="es-ES" dirty="0"/>
              <a:t>Por eso </a:t>
            </a:r>
            <a:r>
              <a:rPr lang="es-ES" b="1" dirty="0"/>
              <a:t>no se generan filas huérfanas</a:t>
            </a:r>
            <a:r>
              <a:rPr lang="es-ES" dirty="0"/>
              <a:t>.</a:t>
            </a:r>
          </a:p>
          <a:p>
            <a:r>
              <a:rPr lang="es-ES" dirty="0"/>
              <a:t>Por lo que no debería haber planetas cuyo </a:t>
            </a:r>
            <a:r>
              <a:rPr lang="es-ES" dirty="0" err="1">
                <a:latin typeface="Consolas" panose="020B0609020204030204" pitchFamily="49" charset="0"/>
              </a:rPr>
              <a:t>host_id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/>
              <a:t>no exista en la dimensión.</a:t>
            </a:r>
          </a:p>
          <a:p>
            <a:r>
              <a:rPr lang="es-ES" dirty="0"/>
              <a:t>Si se intenta insertar un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r>
              <a:rPr lang="es-ES" dirty="0"/>
              <a:t> que no existe en </a:t>
            </a:r>
            <a:r>
              <a:rPr lang="es-ES" dirty="0" err="1">
                <a:latin typeface="Consolas" panose="020B0609020204030204" pitchFamily="49" charset="0"/>
              </a:rPr>
              <a:t>dim_host_sk.host_id</a:t>
            </a:r>
            <a:r>
              <a:rPr lang="es-ES" dirty="0"/>
              <a:t> el motor rechaza la inserción</a:t>
            </a:r>
          </a:p>
          <a:p>
            <a:r>
              <a:rPr lang="es-ES" dirty="0"/>
              <a:t>También el motor rechazará la inserción si se ingresa una PRIMARY KEY repetida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423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9A68-DAB4-2BF5-C17A-3370289E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0EAF9017-F93C-79F0-8C76-951E902B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21FDC49-0757-64D7-D6FD-79AAC1523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CC7AF922-8C5F-F983-BA2F-D6B3DDED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EAB1AA6-D159-355E-5A5B-D9A3503FA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B913D5AD-0092-B500-CB25-42A9D071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CEF10A-7E51-01F0-4E59-8164D2BDC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06F9B2-1F83-9B9E-63D1-1C4126FD7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80E16C4-97BF-A189-3D3F-2140BF88A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FB6F2F-CB09-0978-5201-705BCF33F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57E390-25B4-326C-EEFE-163E1D94E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7415E80-B89E-DF5B-EF4B-099C3221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3</a:t>
            </a:r>
          </a:p>
        </p:txBody>
      </p:sp>
    </p:spTree>
    <p:extLst>
      <p:ext uri="{BB962C8B-B14F-4D97-AF65-F5344CB8AC3E}">
        <p14:creationId xmlns:p14="http://schemas.microsoft.com/office/powerpoint/2010/main" val="116726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0E1B8-65E1-43DC-6C94-808E0702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Contract</a:t>
            </a:r>
            <a:r>
              <a:rPr lang="es-CO" b="1" dirty="0"/>
              <a:t> </a:t>
            </a:r>
            <a:r>
              <a:rPr lang="es-CO" b="1" dirty="0" err="1"/>
              <a:t>update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4F6442-E8B0-9B74-EB01-6348AB0D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En </a:t>
            </a:r>
            <a:r>
              <a:rPr lang="es-CO" dirty="0">
                <a:latin typeface="Consolas" panose="020B0609020204030204" pitchFamily="49" charset="0"/>
              </a:rPr>
              <a:t>docs/data_contract.md </a:t>
            </a:r>
            <a:r>
              <a:rPr lang="es-CO" dirty="0"/>
              <a:t>debe quedar:</a:t>
            </a:r>
          </a:p>
          <a:p>
            <a:r>
              <a:rPr lang="es-CO" b="1" dirty="0" err="1"/>
              <a:t>Datasets</a:t>
            </a:r>
            <a:r>
              <a:rPr lang="es-CO" b="1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dim_host_sk</a:t>
            </a:r>
            <a:r>
              <a:rPr lang="es-CO" dirty="0"/>
              <a:t>, </a:t>
            </a:r>
            <a:r>
              <a:rPr lang="es-CO" dirty="0" err="1">
                <a:latin typeface="Consolas" panose="020B0609020204030204" pitchFamily="49" charset="0"/>
              </a:rPr>
              <a:t>fact_planet_sk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Grain</a:t>
            </a:r>
            <a:r>
              <a:rPr lang="es-CO" dirty="0"/>
              <a:t>: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dim_host_sk</a:t>
            </a:r>
            <a:r>
              <a:rPr lang="es-CO" dirty="0"/>
              <a:t>: 1 fila por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fact_planet_sk</a:t>
            </a:r>
            <a:r>
              <a:rPr lang="es-CO" dirty="0"/>
              <a:t>: 1 fila por </a:t>
            </a:r>
            <a:r>
              <a:rPr lang="es-CO" dirty="0" err="1">
                <a:latin typeface="Consolas" panose="020B0609020204030204" pitchFamily="49" charset="0"/>
              </a:rPr>
              <a:t>pl_name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Keys</a:t>
            </a:r>
            <a:r>
              <a:rPr lang="es-CO" b="1" dirty="0"/>
              <a:t>/</a:t>
            </a:r>
            <a:r>
              <a:rPr lang="es-CO" b="1" dirty="0" err="1"/>
              <a:t>Constraints</a:t>
            </a:r>
            <a:r>
              <a:rPr lang="es-CO" dirty="0"/>
              <a:t>:</a:t>
            </a:r>
          </a:p>
          <a:p>
            <a:pPr lvl="1"/>
            <a:r>
              <a:rPr lang="es-CO" dirty="0"/>
              <a:t>PK </a:t>
            </a:r>
            <a:r>
              <a:rPr lang="es-CO" dirty="0" err="1"/>
              <a:t>dim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r>
              <a:rPr lang="es-CO" dirty="0"/>
              <a:t> (y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/>
              <a:t> UNIQUE)</a:t>
            </a:r>
          </a:p>
          <a:p>
            <a:pPr lvl="1"/>
            <a:r>
              <a:rPr lang="es-CO" dirty="0"/>
              <a:t>PK </a:t>
            </a:r>
            <a:r>
              <a:rPr lang="es-CO" dirty="0" err="1"/>
              <a:t>fact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pl_name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/>
              <a:t>FK </a:t>
            </a:r>
            <a:r>
              <a:rPr lang="es-CO" dirty="0" err="1"/>
              <a:t>fact</a:t>
            </a:r>
            <a:r>
              <a:rPr lang="es-CO" dirty="0"/>
              <a:t> → </a:t>
            </a:r>
            <a:r>
              <a:rPr lang="es-CO" dirty="0" err="1"/>
              <a:t>dim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Checks</a:t>
            </a:r>
            <a:r>
              <a:rPr lang="es-CO" b="1" dirty="0"/>
              <a:t> mínimos</a:t>
            </a:r>
            <a:r>
              <a:rPr lang="es-CO" dirty="0"/>
              <a:t>: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orphan_rows</a:t>
            </a:r>
            <a:r>
              <a:rPr lang="es-CO" dirty="0">
                <a:latin typeface="Consolas" panose="020B0609020204030204" pitchFamily="49" charset="0"/>
              </a:rPr>
              <a:t> = 0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n_rows</a:t>
            </a:r>
            <a:r>
              <a:rPr lang="es-CO" dirty="0">
                <a:latin typeface="Consolas" panose="020B0609020204030204" pitchFamily="49" charset="0"/>
              </a:rPr>
              <a:t>(</a:t>
            </a:r>
            <a:r>
              <a:rPr lang="es-CO" dirty="0" err="1">
                <a:latin typeface="Consolas" panose="020B0609020204030204" pitchFamily="49" charset="0"/>
              </a:rPr>
              <a:t>dim</a:t>
            </a:r>
            <a:r>
              <a:rPr lang="es-CO" dirty="0">
                <a:latin typeface="Consolas" panose="020B0609020204030204" pitchFamily="49" charset="0"/>
              </a:rPr>
              <a:t>) == </a:t>
            </a:r>
            <a:r>
              <a:rPr lang="es-CO" dirty="0" err="1">
                <a:latin typeface="Consolas" panose="020B0609020204030204" pitchFamily="49" charset="0"/>
              </a:rPr>
              <a:t>n_keys</a:t>
            </a:r>
            <a:r>
              <a:rPr lang="es-CO" dirty="0">
                <a:latin typeface="Consolas" panose="020B0609020204030204" pitchFamily="49" charset="0"/>
              </a:rPr>
              <a:t>(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534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A09C9B-3D2D-ADBB-457C-3C978E75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Entregables (en clase) + evidencia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F41DFA-F9A9-F546-AB1E-3C1570AA1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b="1" dirty="0"/>
              <a:t>En clase </a:t>
            </a:r>
            <a:endParaRPr lang="es-CO" b="1" dirty="0">
              <a:latin typeface="Consolas" panose="020B0609020204030204" pitchFamily="49" charset="0"/>
            </a:endParaRPr>
          </a:p>
          <a:p>
            <a:pPr lvl="1"/>
            <a:r>
              <a:rPr lang="es-CO" dirty="0">
                <a:latin typeface="Consolas" panose="020B0609020204030204" pitchFamily="49" charset="0"/>
              </a:rPr>
              <a:t>Evidencia pegada en </a:t>
            </a:r>
            <a:r>
              <a:rPr lang="es-CO" dirty="0" err="1"/>
              <a:t>docs</a:t>
            </a:r>
            <a:r>
              <a:rPr lang="es-CO" dirty="0"/>
              <a:t>/w05a_evidence.md:</a:t>
            </a:r>
          </a:p>
          <a:p>
            <a:pPr lvl="1"/>
            <a:r>
              <a:rPr lang="es-CO" dirty="0">
                <a:latin typeface="Consolas" panose="020B0609020204030204" pitchFamily="49" charset="0"/>
              </a:rPr>
              <a:t>COUNT(*)</a:t>
            </a:r>
            <a:r>
              <a:rPr lang="es-CO" dirty="0"/>
              <a:t> vs </a:t>
            </a:r>
            <a:r>
              <a:rPr lang="es-CO" dirty="0">
                <a:latin typeface="Consolas" panose="020B0609020204030204" pitchFamily="49" charset="0"/>
              </a:rPr>
              <a:t>COUNT(DISTINCT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>
                <a:latin typeface="Consolas" panose="020B0609020204030204" pitchFamily="49" charset="0"/>
              </a:rPr>
              <a:t>) </a:t>
            </a:r>
            <a:r>
              <a:rPr lang="es-CO" dirty="0"/>
              <a:t>en </a:t>
            </a:r>
            <a:r>
              <a:rPr lang="es-CO" dirty="0" err="1">
                <a:latin typeface="Consolas" panose="020B0609020204030204" pitchFamily="49" charset="0"/>
              </a:rPr>
              <a:t>dim_host_sk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orphan_rows</a:t>
            </a:r>
            <a:r>
              <a:rPr lang="es-CO" dirty="0"/>
              <a:t> en </a:t>
            </a:r>
            <a:r>
              <a:rPr lang="es-CO" dirty="0" err="1">
                <a:latin typeface="Consolas" panose="020B0609020204030204" pitchFamily="49" charset="0"/>
              </a:rPr>
              <a:t>fact_planet_sk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dirty="0"/>
              <a:t>1 entrada en </a:t>
            </a:r>
            <a:r>
              <a:rPr lang="es-CO" dirty="0">
                <a:latin typeface="Consolas" panose="020B0609020204030204" pitchFamily="49" charset="0"/>
              </a:rPr>
              <a:t>docs/decisions_log.md </a:t>
            </a:r>
            <a:r>
              <a:rPr lang="es-CO" dirty="0"/>
              <a:t>(con conteos)</a:t>
            </a:r>
          </a:p>
          <a:p>
            <a:r>
              <a:rPr lang="es-CO" b="1" dirty="0"/>
              <a:t>Tarea</a:t>
            </a:r>
            <a:endParaRPr lang="es-CO" dirty="0"/>
          </a:p>
          <a:p>
            <a:r>
              <a:rPr lang="es-CO" dirty="0"/>
              <a:t>Actualiza docs/data_contract.md con:</a:t>
            </a:r>
          </a:p>
          <a:p>
            <a:pPr lvl="1"/>
            <a:r>
              <a:rPr lang="es-CO" dirty="0" err="1"/>
              <a:t>grain</a:t>
            </a:r>
            <a:r>
              <a:rPr lang="es-CO" dirty="0"/>
              <a:t>, </a:t>
            </a:r>
            <a:r>
              <a:rPr lang="es-CO" dirty="0" err="1"/>
              <a:t>keys</a:t>
            </a:r>
            <a:r>
              <a:rPr lang="es-CO" dirty="0"/>
              <a:t>, </a:t>
            </a:r>
            <a:r>
              <a:rPr lang="es-CO" dirty="0" err="1"/>
              <a:t>checks</a:t>
            </a:r>
            <a:endParaRPr lang="es-CO" dirty="0"/>
          </a:p>
          <a:p>
            <a:r>
              <a:rPr lang="es-CO" dirty="0">
                <a:latin typeface="Consolas" panose="020B0609020204030204" pitchFamily="49" charset="0"/>
              </a:rPr>
              <a:t>docs/w05a_modeling_notes.md</a:t>
            </a:r>
            <a:r>
              <a:rPr lang="es-CO" dirty="0"/>
              <a:t>:</a:t>
            </a:r>
          </a:p>
          <a:p>
            <a:r>
              <a:rPr lang="es-CO" dirty="0"/>
              <a:t> Natural </a:t>
            </a:r>
            <a:r>
              <a:rPr lang="es-CO" dirty="0" err="1"/>
              <a:t>key</a:t>
            </a:r>
            <a:r>
              <a:rPr lang="es-CO" dirty="0"/>
              <a:t> vs </a:t>
            </a:r>
            <a:r>
              <a:rPr lang="es-CO" dirty="0" err="1"/>
              <a:t>surrogate</a:t>
            </a:r>
            <a:r>
              <a:rPr lang="es-CO" dirty="0"/>
              <a:t> (2–3 </a:t>
            </a:r>
            <a:r>
              <a:rPr lang="es-CO" dirty="0" err="1"/>
              <a:t>bullets</a:t>
            </a:r>
            <a:r>
              <a:rPr lang="es-CO" dirty="0"/>
              <a:t>)</a:t>
            </a:r>
          </a:p>
          <a:p>
            <a:r>
              <a:rPr lang="es-CO" dirty="0"/>
              <a:t>Cuándo usarías FK (y cuándo preferirías validar con </a:t>
            </a:r>
            <a:r>
              <a:rPr lang="es-CO" dirty="0" err="1"/>
              <a:t>queries</a:t>
            </a:r>
            <a:r>
              <a:rPr lang="es-CO" dirty="0"/>
              <a:t>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2499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26901-8211-0AD1-14F3-2DAF5166E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" y="2862519"/>
            <a:ext cx="5061155" cy="1325563"/>
          </a:xfrm>
        </p:spPr>
        <p:txBody>
          <a:bodyPr>
            <a:normAutofit fontScale="90000"/>
          </a:bodyPr>
          <a:lstStyle/>
          <a:p>
            <a:r>
              <a:rPr lang="es-CO" sz="4000" b="1" dirty="0">
                <a:solidFill>
                  <a:srgbClr val="B6B7B8"/>
                </a:solidFill>
              </a:rPr>
              <a:t>H2 (fin de semana): qué significa “entregar H2”</a:t>
            </a:r>
            <a:endParaRPr lang="es-CO" sz="4000" dirty="0">
              <a:solidFill>
                <a:srgbClr val="B6B7B8"/>
              </a:solidFill>
            </a:endParaRPr>
          </a:p>
        </p:txBody>
      </p:sp>
      <p:pic>
        <p:nvPicPr>
          <p:cNvPr id="7" name="Marcador de contenido 6" descr="Texto&#10;&#10;El contenido generado por IA puede ser incorrecto.">
            <a:extLst>
              <a:ext uri="{FF2B5EF4-FFF2-40B4-BE49-F238E27FC236}">
                <a16:creationId xmlns:a16="http://schemas.microsoft.com/office/drawing/2014/main" id="{1594F0D7-197C-5386-9BAE-925252CED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1216" y="448238"/>
            <a:ext cx="6123191" cy="596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354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966</Words>
  <Application>Microsoft Office PowerPoint</Application>
  <PresentationFormat>Panorámica</PresentationFormat>
  <Paragraphs>122</Paragraphs>
  <Slides>14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Calibri</vt:lpstr>
      <vt:lpstr>Consolas</vt:lpstr>
      <vt:lpstr>Tema de Office</vt:lpstr>
      <vt:lpstr>PK/FK + Surrogate Keys + Star Schema (DuckDB)</vt:lpstr>
      <vt:lpstr>¿Dónde vamos?</vt:lpstr>
      <vt:lpstr>Grain (la idea más importante del día)</vt:lpstr>
      <vt:lpstr>Identificadores únicos del Grain</vt:lpstr>
      <vt:lpstr>PK, UNIQUE, NOT NULL</vt:lpstr>
      <vt:lpstr>Demo 1</vt:lpstr>
      <vt:lpstr>FOREIGN KEY (qué garantiza y por qué importa)</vt:lpstr>
      <vt:lpstr>Demo 2</vt:lpstr>
      <vt:lpstr>Desglosando Demo 2</vt:lpstr>
      <vt:lpstr>Además…</vt:lpstr>
      <vt:lpstr>Demo 3</vt:lpstr>
      <vt:lpstr>Contract update</vt:lpstr>
      <vt:lpstr>Entregables (en clase) + evidencia</vt:lpstr>
      <vt:lpstr>H2 (fin de semana): qué significa “entregar H2”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6</cp:revision>
  <dcterms:created xsi:type="dcterms:W3CDTF">2026-01-12T01:06:54Z</dcterms:created>
  <dcterms:modified xsi:type="dcterms:W3CDTF">2026-01-21T04:22:52Z</dcterms:modified>
</cp:coreProperties>
</file>